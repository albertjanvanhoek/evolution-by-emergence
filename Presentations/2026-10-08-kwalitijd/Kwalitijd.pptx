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67"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58652E1-8EA8-0629-C87D-AB25146DA44E}">
          <p14:sldIdLst>
            <p14:sldId id="256"/>
            <p14:sldId id="257"/>
          </p14:sldIdLst>
        </p14:section>
        <p14:section name="Intelligentie" id="{FFA8AB02-1754-8AF7-FF9B-3C0045A83B7B}">
          <p14:sldIdLst>
            <p14:sldId id="258"/>
            <p14:sldId id="259"/>
          </p14:sldIdLst>
        </p14:section>
        <p14:section name="Waarom formeel kiezen" id="{22F0A31B-E481-50D3-8D1C-6A563C1C71D2}">
          <p14:sldIdLst>
            <p14:sldId id="260"/>
            <p14:sldId id="261"/>
            <p14:sldId id="262"/>
            <p14:sldId id="263"/>
          </p14:sldIdLst>
        </p14:section>
        <p14:section name="Kwaliteit van leven" id="{718F938D-9DEF-80C1-EABC-43B3BEFD2AEF}">
          <p14:sldIdLst>
            <p14:sldId id="264"/>
            <p14:sldId id="265"/>
            <p14:sldId id="266"/>
          </p14:sldIdLst>
        </p14:section>
        <p14:section name="Meten" id="{AA16ECDE-181E-FEA1-C65E-7476A27E4932}">
          <p14:sldIdLst>
            <p14:sldId id="268"/>
            <p14:sldId id="269"/>
            <p14:sldId id="270"/>
            <p14:sldId id="267"/>
            <p14:sldId id="271"/>
            <p14:sldId id="272"/>
          </p14:sldIdLst>
        </p14:section>
        <p14:section name="Toekomst" id="{F4714435-CB2E-AA73-9776-0A583939A4BE}">
          <p14:sldIdLst>
            <p14:sldId id="273"/>
          </p14:sldIdLst>
        </p14:section>
        <p14:section name="Hoop" id="{8958D120-B2D9-CAC1-6546-4386370420D7}">
          <p14:sldIdLst>
            <p14:sldId id="274"/>
            <p14:sldId id="275"/>
            <p14:sldId id="276"/>
          </p14:sldIdLst>
        </p14:section>
        <p14:section name="Bronnen" id="{EA5D1FB2-1150-24E3-053F-2C07631094E3}">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7" d="100"/>
          <a:sy n="107" d="100"/>
        </p:scale>
        <p:origin x="714"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Wat er gebeurt: verdubbeling per week</c:v>
                </c:pt>
              </c:strCache>
            </c:strRef>
          </c:tx>
          <c:spPr>
            <a:ln w="38100" cap="flat">
              <a:solidFill>
                <a:srgbClr val="B45A60"/>
              </a:solidFill>
              <a:prstDash val="solid"/>
              <a:round/>
            </a:ln>
            <a:effectLst/>
          </c:spPr>
          <c:marker>
            <c:symbol val="circle"/>
            <c:size val="7"/>
            <c:spPr>
              <a:solidFill>
                <a:srgbClr val="B45A60"/>
              </a:solidFill>
              <a:ln w="9525" cap="flat">
                <a:solidFill>
                  <a:srgbClr val="B45A60"/>
                </a:solidFill>
                <a:prstDash val="solid"/>
                <a:round/>
              </a:ln>
              <a:effectLst/>
            </c:spPr>
          </c:marker>
          <c:cat>
            <c:strRef>
              <c:f>Sheet1!$A$2:$A$10</c:f>
              <c:strCache>
                <c:ptCount val="9"/>
                <c:pt idx="0">
                  <c:v>0</c:v>
                </c:pt>
                <c:pt idx="1">
                  <c:v>1</c:v>
                </c:pt>
                <c:pt idx="2">
                  <c:v>2</c:v>
                </c:pt>
                <c:pt idx="3">
                  <c:v>3</c:v>
                </c:pt>
                <c:pt idx="4">
                  <c:v>4</c:v>
                </c:pt>
                <c:pt idx="5">
                  <c:v>5</c:v>
                </c:pt>
                <c:pt idx="6">
                  <c:v>6</c:v>
                </c:pt>
                <c:pt idx="7">
                  <c:v>7</c:v>
                </c:pt>
                <c:pt idx="8">
                  <c:v>8</c:v>
                </c:pt>
              </c:strCache>
            </c:strRef>
          </c:cat>
          <c:val>
            <c:numRef>
              <c:f>Sheet1!$B$2:$B$10</c:f>
              <c:numCache>
                <c:formatCode>General</c:formatCode>
                <c:ptCount val="9"/>
                <c:pt idx="0">
                  <c:v>100</c:v>
                </c:pt>
                <c:pt idx="1">
                  <c:v>200</c:v>
                </c:pt>
                <c:pt idx="2">
                  <c:v>400</c:v>
                </c:pt>
                <c:pt idx="3">
                  <c:v>800</c:v>
                </c:pt>
                <c:pt idx="4">
                  <c:v>1600</c:v>
                </c:pt>
                <c:pt idx="5">
                  <c:v>3200</c:v>
                </c:pt>
                <c:pt idx="6">
                  <c:v>6400</c:v>
                </c:pt>
                <c:pt idx="7">
                  <c:v>12800</c:v>
                </c:pt>
                <c:pt idx="8">
                  <c:v>25600</c:v>
                </c:pt>
              </c:numCache>
            </c:numRef>
          </c:val>
          <c:smooth val="0"/>
          <c:extLst>
            <c:ext xmlns:c16="http://schemas.microsoft.com/office/drawing/2014/chart" uri="{C3380CC4-5D6E-409C-BE32-E72D297353CC}">
              <c16:uniqueId val="{00000000-4D87-416B-AEB0-E4C3E0197E17}"/>
            </c:ext>
          </c:extLst>
        </c:ser>
        <c:ser>
          <c:idx val="1"/>
          <c:order val="1"/>
          <c:tx>
            <c:strRef>
              <c:f>Sheet1!$C$1</c:f>
              <c:strCache>
                <c:ptCount val="1"/>
                <c:pt idx="0">
                  <c:v>Wat we verwachten: een rechte lijn</c:v>
                </c:pt>
              </c:strCache>
            </c:strRef>
          </c:tx>
          <c:spPr>
            <a:ln w="38100" cap="flat">
              <a:solidFill>
                <a:srgbClr val="8D9CA7"/>
              </a:solidFill>
              <a:prstDash val="solid"/>
              <a:round/>
            </a:ln>
            <a:effectLst/>
          </c:spPr>
          <c:marker>
            <c:symbol val="circle"/>
            <c:size val="7"/>
            <c:spPr>
              <a:solidFill>
                <a:srgbClr val="8D9CA7"/>
              </a:solidFill>
              <a:ln w="9525" cap="flat">
                <a:solidFill>
                  <a:srgbClr val="8D9CA7"/>
                </a:solidFill>
                <a:prstDash val="solid"/>
                <a:round/>
              </a:ln>
              <a:effectLst/>
            </c:spPr>
          </c:marker>
          <c:cat>
            <c:strRef>
              <c:f>Sheet1!$A$2:$A$10</c:f>
              <c:strCache>
                <c:ptCount val="9"/>
                <c:pt idx="0">
                  <c:v>0</c:v>
                </c:pt>
                <c:pt idx="1">
                  <c:v>1</c:v>
                </c:pt>
                <c:pt idx="2">
                  <c:v>2</c:v>
                </c:pt>
                <c:pt idx="3">
                  <c:v>3</c:v>
                </c:pt>
                <c:pt idx="4">
                  <c:v>4</c:v>
                </c:pt>
                <c:pt idx="5">
                  <c:v>5</c:v>
                </c:pt>
                <c:pt idx="6">
                  <c:v>6</c:v>
                </c:pt>
                <c:pt idx="7">
                  <c:v>7</c:v>
                </c:pt>
                <c:pt idx="8">
                  <c:v>8</c:v>
                </c:pt>
              </c:strCache>
            </c:strRef>
          </c:cat>
          <c:val>
            <c:numRef>
              <c:f>Sheet1!$C$2:$C$10</c:f>
              <c:numCache>
                <c:formatCode>General</c:formatCode>
                <c:ptCount val="9"/>
                <c:pt idx="0">
                  <c:v>100</c:v>
                </c:pt>
                <c:pt idx="1">
                  <c:v>200</c:v>
                </c:pt>
                <c:pt idx="2">
                  <c:v>300</c:v>
                </c:pt>
                <c:pt idx="3">
                  <c:v>400</c:v>
                </c:pt>
                <c:pt idx="4">
                  <c:v>500</c:v>
                </c:pt>
                <c:pt idx="5">
                  <c:v>600</c:v>
                </c:pt>
                <c:pt idx="6">
                  <c:v>700</c:v>
                </c:pt>
                <c:pt idx="7">
                  <c:v>800</c:v>
                </c:pt>
                <c:pt idx="8">
                  <c:v>900</c:v>
                </c:pt>
              </c:numCache>
            </c:numRef>
          </c:val>
          <c:smooth val="0"/>
          <c:extLst>
            <c:ext xmlns:c16="http://schemas.microsoft.com/office/drawing/2014/chart" uri="{C3380CC4-5D6E-409C-BE32-E72D297353CC}">
              <c16:uniqueId val="{00000001-4D87-416B-AEB0-E4C3E0197E1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56675"/>
                    </a:solidFill>
                    <a:latin typeface="Arial"/>
                  </a:defRPr>
                </a:pPr>
                <a:r>
                  <a:rPr lang="en-US" sz="1200" b="0" i="0" u="none" strike="noStrike">
                    <a:solidFill>
                      <a:srgbClr val="556675"/>
                    </a:solidFill>
                    <a:latin typeface="Arial"/>
                  </a:rPr>
                  <a:t>Week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6675"/>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E8EF"/>
              </a:solidFill>
              <a:prstDash val="solid"/>
              <a:round/>
            </a:ln>
          </c:spPr>
        </c:majorGridlines>
        <c:title>
          <c:tx>
            <c:rich>
              <a:bodyPr/>
              <a:lstStyle/>
              <a:p>
                <a:pPr>
                  <a:defRPr sz="1200" b="0" i="0" u="none" strike="noStrike">
                    <a:solidFill>
                      <a:srgbClr val="556675"/>
                    </a:solidFill>
                    <a:latin typeface="Arial"/>
                  </a:defRPr>
                </a:pPr>
                <a:r>
                  <a:rPr lang="en-US" sz="1200" b="0" i="0" u="none" strike="noStrike">
                    <a:solidFill>
                      <a:srgbClr val="556675"/>
                    </a:solidFill>
                    <a:latin typeface="Arial"/>
                  </a:rPr>
                  <a:t>Aantal gevallen (illustratie)</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66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7314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Levensverwachting op 65 jaar</c:v>
                </c:pt>
              </c:strCache>
            </c:strRef>
          </c:tx>
          <c:spPr>
            <a:solidFill>
              <a:srgbClr val="277F9A"/>
            </a:solidFill>
            <a:effectLst/>
          </c:spPr>
          <c:invertIfNegative val="0"/>
          <c:dLbls>
            <c:numFmt formatCode="0.0" sourceLinked="0"/>
            <c:spPr>
              <a:noFill/>
              <a:ln>
                <a:noFill/>
              </a:ln>
              <a:effectLst/>
            </c:spPr>
            <c:txPr>
              <a:bodyPr/>
              <a:lstStyle/>
              <a:p>
                <a:pPr>
                  <a:defRPr sz="15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Vrouwen 2025</c:v>
                </c:pt>
                <c:pt idx="1">
                  <c:v>Vrouwen 1981</c:v>
                </c:pt>
                <c:pt idx="2">
                  <c:v>Mannen 2025</c:v>
                </c:pt>
                <c:pt idx="3">
                  <c:v>Mannen 1981</c:v>
                </c:pt>
              </c:strCache>
            </c:strRef>
          </c:cat>
          <c:val>
            <c:numRef>
              <c:f>Sheet1!$B$2:$B$5</c:f>
              <c:numCache>
                <c:formatCode>General</c:formatCode>
                <c:ptCount val="4"/>
                <c:pt idx="0">
                  <c:v>21.42</c:v>
                </c:pt>
                <c:pt idx="1">
                  <c:v>18.86</c:v>
                </c:pt>
                <c:pt idx="2">
                  <c:v>19.46</c:v>
                </c:pt>
                <c:pt idx="3">
                  <c:v>14.33</c:v>
                </c:pt>
              </c:numCache>
            </c:numRef>
          </c:val>
          <c:extLst>
            <c:ext xmlns:c16="http://schemas.microsoft.com/office/drawing/2014/chart" uri="{C3380CC4-5D6E-409C-BE32-E72D297353CC}">
              <c16:uniqueId val="{00000000-791B-4CCA-872A-80A59B2562FF}"/>
            </c:ext>
          </c:extLst>
        </c:ser>
        <c:dLbls>
          <c:dLblPos val="ctr"/>
          <c:showLegendKey val="0"/>
          <c:showVal val="1"/>
          <c:showCatName val="0"/>
          <c:showSerName val="0"/>
          <c:showPercent val="0"/>
          <c:showBubbleSize val="0"/>
        </c:dLbls>
        <c:gapWidth val="45"/>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73146"/>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0"/>
        <c:axPos val="b"/>
        <c:majorGridlines>
          <c:spPr>
            <a:ln w="9525" cap="flat">
              <a:solidFill>
                <a:srgbClr val="E2E8EF"/>
              </a:solidFill>
              <a:prstDash val="solid"/>
              <a:round/>
            </a:ln>
          </c:spPr>
        </c:majorGridlines>
        <c:title>
          <c:tx>
            <c:rich>
              <a:bodyPr/>
              <a:lstStyle/>
              <a:p>
                <a:pPr>
                  <a:defRPr sz="1200" b="0" i="0" u="none" strike="noStrike">
                    <a:solidFill>
                      <a:srgbClr val="556675"/>
                    </a:solidFill>
                    <a:latin typeface="Arial"/>
                  </a:defRPr>
                </a:pPr>
                <a:r>
                  <a:rPr lang="en-US" sz="1200" b="0" i="0" u="none" strike="noStrike">
                    <a:solidFill>
                      <a:srgbClr val="556675"/>
                    </a:solidFill>
                    <a:latin typeface="Arial"/>
                  </a:rPr>
                  <a:t>Jaren</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56675"/>
                </a:solidFill>
                <a:latin typeface="+mn-lt"/>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In als goed ervaren gezondheid</c:v>
                </c:pt>
              </c:strCache>
            </c:strRef>
          </c:tx>
          <c:spPr>
            <a:solidFill>
              <a:srgbClr val="247C6D"/>
            </a:solidFill>
            <a:effectLst/>
          </c:spPr>
          <c:invertIfNegative val="0"/>
          <c:dLbls>
            <c:numFmt formatCode="0.0" sourceLinked="0"/>
            <c:spPr>
              <a:noFill/>
              <a:ln>
                <a:noFill/>
              </a:ln>
              <a:effectLst/>
            </c:spPr>
            <c:txPr>
              <a:bodyPr/>
              <a:lstStyle/>
              <a:p>
                <a:pPr>
                  <a:defRPr sz="15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Vrouwen 2025</c:v>
                </c:pt>
                <c:pt idx="1">
                  <c:v>Vrouwen 1981</c:v>
                </c:pt>
                <c:pt idx="2">
                  <c:v>Mannen 2025</c:v>
                </c:pt>
                <c:pt idx="3">
                  <c:v>Mannen 1981</c:v>
                </c:pt>
              </c:strCache>
            </c:strRef>
          </c:cat>
          <c:val>
            <c:numRef>
              <c:f>Sheet1!$B$2:$B$5</c:f>
              <c:numCache>
                <c:formatCode>General</c:formatCode>
                <c:ptCount val="4"/>
                <c:pt idx="0">
                  <c:v>12.5</c:v>
                </c:pt>
                <c:pt idx="1">
                  <c:v>10.8</c:v>
                </c:pt>
                <c:pt idx="2">
                  <c:v>12.7</c:v>
                </c:pt>
                <c:pt idx="3">
                  <c:v>9.1999999999999993</c:v>
                </c:pt>
              </c:numCache>
            </c:numRef>
          </c:val>
          <c:extLst>
            <c:ext xmlns:c16="http://schemas.microsoft.com/office/drawing/2014/chart" uri="{C3380CC4-5D6E-409C-BE32-E72D297353CC}">
              <c16:uniqueId val="{00000000-973D-4E89-B4CF-9615531C9880}"/>
            </c:ext>
          </c:extLst>
        </c:ser>
        <c:ser>
          <c:idx val="1"/>
          <c:order val="1"/>
          <c:tx>
            <c:strRef>
              <c:f>Sheet1!$C$1</c:f>
              <c:strCache>
                <c:ptCount val="1"/>
                <c:pt idx="0">
                  <c:v>In minder goede gezondheid</c:v>
                </c:pt>
              </c:strCache>
            </c:strRef>
          </c:tx>
          <c:spPr>
            <a:solidFill>
              <a:srgbClr val="B45A60"/>
            </a:solidFill>
            <a:effectLst/>
          </c:spPr>
          <c:invertIfNegative val="0"/>
          <c:dLbls>
            <c:numFmt formatCode="0.0" sourceLinked="0"/>
            <c:spPr>
              <a:noFill/>
              <a:ln>
                <a:noFill/>
              </a:ln>
              <a:effectLst/>
            </c:spPr>
            <c:txPr>
              <a:bodyPr/>
              <a:lstStyle/>
              <a:p>
                <a:pPr>
                  <a:defRPr sz="15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Vrouwen 2025</c:v>
                </c:pt>
                <c:pt idx="1">
                  <c:v>Vrouwen 1981</c:v>
                </c:pt>
                <c:pt idx="2">
                  <c:v>Mannen 2025</c:v>
                </c:pt>
                <c:pt idx="3">
                  <c:v>Mannen 1981</c:v>
                </c:pt>
              </c:strCache>
            </c:strRef>
          </c:cat>
          <c:val>
            <c:numRef>
              <c:f>Sheet1!$C$2:$C$5</c:f>
              <c:numCache>
                <c:formatCode>General</c:formatCode>
                <c:ptCount val="4"/>
                <c:pt idx="0">
                  <c:v>8.9</c:v>
                </c:pt>
                <c:pt idx="1">
                  <c:v>8.1</c:v>
                </c:pt>
                <c:pt idx="2">
                  <c:v>6.8</c:v>
                </c:pt>
                <c:pt idx="3">
                  <c:v>5.0999999999999996</c:v>
                </c:pt>
              </c:numCache>
            </c:numRef>
          </c:val>
          <c:extLst>
            <c:ext xmlns:c16="http://schemas.microsoft.com/office/drawing/2014/chart" uri="{C3380CC4-5D6E-409C-BE32-E72D297353CC}">
              <c16:uniqueId val="{00000001-973D-4E89-B4CF-9615531C9880}"/>
            </c:ext>
          </c:extLst>
        </c:ser>
        <c:dLbls>
          <c:dLblPos val="ctr"/>
          <c:showLegendKey val="0"/>
          <c:showVal val="1"/>
          <c:showCatName val="0"/>
          <c:showSerName val="0"/>
          <c:showPercent val="0"/>
          <c:showBubbleSize val="0"/>
        </c:dLbls>
        <c:gapWidth val="45"/>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73146"/>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0"/>
        <c:axPos val="b"/>
        <c:majorGridlines>
          <c:spPr>
            <a:ln w="9525" cap="flat">
              <a:solidFill>
                <a:srgbClr val="E2E8EF"/>
              </a:solidFill>
              <a:prstDash val="solid"/>
              <a:round/>
            </a:ln>
          </c:spPr>
        </c:majorGridlines>
        <c:title>
          <c:tx>
            <c:rich>
              <a:bodyPr/>
              <a:lstStyle/>
              <a:p>
                <a:pPr>
                  <a:defRPr sz="1200" b="0" i="0" u="none" strike="noStrike">
                    <a:solidFill>
                      <a:srgbClr val="556675"/>
                    </a:solidFill>
                    <a:latin typeface="Arial"/>
                  </a:defRPr>
                </a:pPr>
                <a:r>
                  <a:rPr lang="en-US" sz="1200" b="0" i="0" u="none" strike="noStrike">
                    <a:solidFill>
                      <a:srgbClr val="556675"/>
                    </a:solidFill>
                    <a:latin typeface="Arial"/>
                  </a:rPr>
                  <a:t>Jaren</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56675"/>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300">
              <a:solidFill>
                <a:srgbClr val="17314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739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Welkom. Kwalitijd: kwaliteit en tijd. Vanavond gaat het over hoe lang en hoe goed we leven, hoe we dat meten, en wat die metingen stilzwijgend veronderstellen: dat we zien waar we naartoe gaan. De kegels op deze dia komen steeds terug.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Kort over mijzelf. Ik ben bioloog van huis uit, met wat economie en een beetje filosofie. Tien jaar in Engeland, acht jaar bij het Engelse RIVM en twee jaar aan de London School of Hygiene and Tropical Medicine; nu acht jaar bij het RIVM. In de commissie vaccinaties van de Gezondheidsraad was ik de gezondheidseconoom. Veel van mijn werk gaat over het meten van kwaliteit van leven, bijvoorbeeld tijdens de coronapandemie. Ik spreek vanavond vanuit die ervaring: hoe nemen we als samenleving besluiten over gezondheid?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Wat is intelligentie? Niet hoeveel je weet, maar hoe ver je vooruit kunt kijken en daarnaar kunt handelen. De bioloog Michael Levin tekent dat als een kegel: het stuk ruimte en tijd dat een wezen kan waarnemen, voorspellen en proberen te beïnvloeden. Een bacterie: micrometers en minuten. Een hond: zijn buurt en een paar dagen. Een mens kan zich zorgen maken over een ander continent of over kleinkinderen die nog niet geboren zijn. Een kegel groeit door te leren: verwachten, vergelijken met wat er echt gebeurt, en bijstellen. Maar binnen je kegel voelt wat je ziet als de hele werkelijkheid. Zekerheid voelt hetzelfde als gelijk hebben.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Collectieve intelligentie is een kegel die groter is dan die van wie dan ook, gebouwd uit veel kleine kegels. De wetenschap kijkt terug tot de oerknal, klimaatmodellen kijken een eeuw vooruit. Niemand ziet dat alleen. Maar kegels tellen niet vanzelf op. Tien mensen die dezelfde bron napraten, hebben samen één kegel. Ze worden pas groter als mensen eerlijk zijn over wat ze zien, en fouten toegeven. Daar kom ik aan het eind op terug.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Waarom denken we eigenlijk formeel na over gezondheid? Een verhaal uit Seattle, 1962. Dialyse was net uitgevonden en er waren veel te weinig machines. Een commissie van zeven burgers – een jurist, een dominee, een bankier, een huisvrouw – besliste wie behandeld werd. Ze keken naar leeftijd, maar ook naar of iemand werk had, kinderen, opleiding, ‘prestaties’. Het tijdschrift Life schreef erover: They decide who lives, who dies. Zeven kegels die beslissen, met criteria die niemand kon controleren, en die neerkwamen op: hoeveel is iemand waard?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Het antwoord op Seattle was: maak de keuzes expliciet. In 1968 vergeleken Klarman en collega's dialyse met niertransplantatie, en telden ze niet alleen levensjaren maar ook hoe goed die jaren waren: het idee achter de QALY. Rond 1970 kwam de time trade-off: laat mensen zelf wegen. In 1972 vroeg Archie Cochrane: wat werkt eigenlijk? Hij pleitte voor bewijs uit gerandomiseerd onderzoek. In 1990 de EQ-5D, en sinds 2016 hebben we een Nederlands tarief. Formeel nadenken over gezondheid is niet uitgevonden om het koud te maken, maar om het eerlijk te maken.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Een model is een poging om onze kegels samen te voegen. Niet door te stemmen of te overtuigen, maar door op te schrijven wat we weten en wat we aannemen. Het brengt drie dingen samen: wat werkt, uit onderzoek; wat mensen belangrijk vinden, via de QALY; en wat het kost. Neutraal is een model niet omdat er geen keuzes in zitten – die zitten er altijd in – maar omdat die keuzes op tafel liggen. Iedereen kan ze zien, aanvechten en verbeteren. Een gevoeligheidsanalyse laat zien waar we het niet weten.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Dit is mijn dagelijkse werk als modelleur van infectieziekten. De eerste gezondheidseconomische modellen keken naar één patiënt tegelijk. Maar bij infectieziekten werkt het zo niet. Groei is exponentieel: na acht weken verdubbelen zit je niet op 900 maar op 25.600 gevallen. Mensen onderschatten dat stelselmatig, al sinds de eerste experimenten in 1975, en we zagen het opnieuw in de pandemie. Wie zich laat vaccineren beschermt ook anderen, en boven een drempel dooft een epidemie uit. Dat zie je niet vanuit één kegel; dat zie je pas in het model. (Eventueel: de wiskunde van epidemieën is ouder dan de gezondheidseconomie, maar kwam pas later in de besluitvorming.)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Eerst het goede nieuws. Ik kijk naar 65-jarigen: wat heb je nog te verwachten als je met pensioen gaat? Een 65-jarige man kon in 1981 nog rekenen op 14,3 jaar; in 2025 is dat 19,5 jaar. Een 65-jarige vrouw van 18,9 naar 21,4 jaar. Ruim vijf jaar erbij voor mannen, ruim tweeënhalf voor vrouwen. Maar zijn dat ook goede jaren?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Nu dezelfde balken, maar gesplitst. Groen: de jaren die een 65-jarige nog in als goed ervaren gezondheid mag verwachten. Rood: de jaren daarna. Er is goed nieuws: bij mannen kwamen er 3,5 gezonde jaren bij en 1,6 minder gezonde, bij vrouwen 1,7 gezonde en 0,9 minder gezonde. Maar nog steeds is ruim een derde van de jaren na je 65e niet in goede gezondheid: bij mannen ongeveer 35 procent, bij vrouwen ruim 40 procent. Kanttekening: dit CBS-cijfer telt een jaar als gezond of niet, op basis van hoe mensen hun gezondheid zelf ervaren. De QALY, die ik zo laat zien, is fijner: die geeft elk jaar een gewicht.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De QALY: quality-adjusted life year. Het idee is eenvoudig: tijd maal kwaliteit. Een jaar in volledige gezondheid telt als 1. Tien jaar met klachten die we waarderen op 0,70, tellen samen als 7 QALY: evenveel als zeven jaar in volledige gezondheid. De vraag is natuurlijk: waar komt die 0,70 vandaan? Die vragen we aan mensen. Eerst beschrijven we gezondheid, dan waarderen we haar.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Maar hoe weten we hoe zwaar zo'n toestand weegt? Dat vragen we aan mensen, bijvoorbeeld met de time trade-off. Stel je voor: elke dag matige pijn die je dagelijkse activiteiten belemmert. Optie A: tien jaar met deze klachten, daarna overlijden. Optie B: zeven jaar volledig gezond, daarna overlijden. Wat kiest u? Steek uw hand op voor A... voor B... Wie A kiest, krijgt een langere B aangeboden; wie B kiest, een kortere. Je zoekt het punt waarop iemand geen voorkeur meer heeft.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Stel dat iemand tien jaar met klachten even aantrekkelijk vindt als zeven jaar in volledige gezondheid. Dan is het gewicht 7 gedeeld door 10: 0,70. Het gewicht is niet de drie ingeleverde jaren, maar de verhouding. En het zegt niet dat iemand ‘70 procent gezond’ is, en zeker niets over iemands waarde als mens. Merk op: deze vraag vraagt mensen om hun kegel op te rekken, tien jaar vooruit te kijken.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Een andere methode is de standard gamble. Zelfde klachten, zelfde tien jaar. Maar nu staat er een denkbeeldige behandeling tegenover: een kans op volledige genezing, en een kans op direct overlijden. (Vraag eerst: wat kiest u bij 80 procent kans op succes?) Wie bij 80 procent geen voorkeur heeft, geeft de toestand een gewicht van 0,80. De twee methoden geven bewust verschillende uitkomsten: 0,70 en 0,80. Hoe je de vraag stelt, en hoe iemand tegen risico aankijkt, maakt uit. Het Nederlandse tarief is gebaseerd op een variant van de time trade-off.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Eerst beschrijven. De EQ-5D vraagt naar vijf domeinen: mobiliteit, zelfzorg, dagelijkse activiteiten, pijn of ongemak, en angst of somberheid, elk op vijf niveaus. Elk niveau geeft een aftrek van de score. Kijk naar de grootte van de balken: pijn en somberheid wegen in Nederland het zwaarst. Let op wat er niet in staat: niets over of iemand de wereld begrijpt of vooruit kan kijken. Daar kom ik later op terug.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Terug naar de vragenlijst. Een apart bevolkingsonderzoek heeft duizenden van die afwegingen verzameld, en daaruit volgt een tarief. Zo krijgt elk profiel een score, zonder dat iedere patiënt zelf een time trade-off hoeft te doen. Dit profiel – lichte problemen met lopen en activiteiten, matige pijn, lichte somberheid – krijgt 0,717. Eén jaar in deze toestand is 0,717 QALY.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En dan het gevoelige punt: we zetten een prijs op een gezond jaar. Het Zorginstituut hanteert referentiewaarden van 20.000 tot 80.000 euro per QALY, afhankelijk van hoe zwaar de ziekte is. Hoe ernstiger, hoe meer we bereid zijn te betalen. Dat klinkt kil, maar het is precies het antwoord op Seattle: dezelfde regels voor iedereen, opgeschreven en controleerbaar. We meten gezondheid, niet iemands waarde. Zo'n maat mag nooit bepalen wat iemand waard is.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Hier wil ik naartoe. We hebben een prachtige maat voor de kwaliteit van leven. Maar kijk wat die meet: het lichaam binnen de kegel. Mobiliteit, pijn, somberheid. Wat ze veronderstelt, is dat we zien waar we naartoe gaan. Elke time trade-off vraagt mensen tien jaar vooruit te kijken, maar geen enkele vraag meet of we dat kunnen, en zeker niet of we dat samen kunnen. Een samenleving kan op alle vijf domeinen hoog scoren en toch fit en wel naar de afgrond lopen, omdat ze de afgrond niet ziet. Gezond en wel naar je ondergang lopen is ook niet fijn. De keuzes van nu – klimaat, AI, de zorg zelf – gaan over decennia en generaties. Vooruitkijken heeft een prijs: luisteren, controleren, bijstellen. Maar niet vooruitkijken kost meer. We zetten een prijs op een gezond jaar; wat is een jaar helder zicht ons waard?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Is er hoop? Ja. Samen modelleren is meer dan rekenen. Wie samen een model bouwt, moet het eens worden over wat we weten, wat we niet weten en wat we belangrijk vinden. Dat is samen leven, in het klein. De filosoof John Dewey schreef in 1916: democratie is meer dan een regeringsvorm, het is in de eerste plaats een manier van samenleven. Er is een hele literatuur over: Jac Vennix uit Nijmegen liet zien dat samen een model bouwen gedeeld begrip schept. Funtowicz en Ravetz: als de feiten onzeker zijn, de waarden omstreden en de inzet hoog, dan hoort iedereen met een belang aan tafel. En Hélène Landemore: een groep wordt niet slimmer door alleen de slimsten aan tafel te zetten, maar door verschillende blikken aan tafel te zetten.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Wie mee wil bouwen aan onze gezamenlijke kegel, heeft te maken met een paar huisregels. Ze gelden voor mensen, en ook voor modellen. Eén: eerlijk. Zeg wat je ziet en schrijf je aannames op. Twee: fouten toegeven. Zekerheid voelt hetzelfde als gelijk hebben, maar is het niet. Drie: luisteren zonder te gehoorzamen. Laat bewijs beslissen, niet wie het hardst praat. Vier: houd je eigen blik. Tien mensen die hetzelfde napraten zien samen één ding. Vijf: meer geven dan nemen. We leven allemaal van kennis die anderen hebben opgebouwd. Zes: dezelfde regels voor iedereen, ook voor wie macht heeft. Dat is de les van Seattle.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Ik eindig waar ik begon. Een bacterie kijkt minuten vooruit, een hond dagen, een mens decennia. Niemand ziet alles. Maar samen, als we eerlijk zijn over wat we zien en durven toe te geven wat we fout zagen, kunnen we generaties vooruitkijken. Samen modelleren is samen vooruitkijken, en samen vooruitkijken is samen leven. U kunt vanavond meedoen. Dank u wel.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Achtergrond; niet presenteren.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_DONK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67512" y="2148840"/>
            <a:ext cx="676656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667512" y="3474720"/>
            <a:ext cx="6309360" cy="146304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OUD">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rtlCol="0"/>
          <a:lstStyle>
            <a:lvl1pPr marL="0" indent="0">
              <a:buNone/>
              <a:defRPr lang="en-US" sz="1100" b="1" dirty="0">
                <a:solidFill>
                  <a:schemeClr val="accent1"/>
                </a:solidFill>
              </a:defRPr>
            </a:lvl1pPr>
          </a:lstStyle>
          <a:p>
            <a:pPr marL="0" indent="0">
              <a:buNone/>
            </a:pP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rtlCol="0"/>
          <a:lstStyle>
            <a:lvl1pPr marL="0" indent="0">
              <a:buNone/>
              <a:defRPr lang="en-US" sz="1500" dirty="0">
                <a:solidFill>
                  <a:schemeClr val="tx2"/>
                </a:solidFill>
              </a:defRPr>
            </a:lvl1pPr>
          </a:lstStyle>
          <a:p>
            <a:pPr marL="0" indent="0">
              <a:buNone/>
            </a:pPr>
            <a:endParaRPr lang="en-US" sz="15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OT_DONK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67512" y="1097280"/>
            <a:ext cx="6675120" cy="17373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67512" y="3063240"/>
            <a:ext cx="6400800" cy="274320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EELD">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67512" y="2148840"/>
            <a:ext cx="6766560" cy="1188720"/>
          </a:xfrm>
          <a:prstGeom prst="rect">
            <a:avLst/>
          </a:prstGeom>
          <a:noFill/>
          <a:ln/>
        </p:spPr>
        <p:txBody>
          <a:bodyPr wrap="square" lIns="0" tIns="0" rIns="0" bIns="0" rtlCol="0" anchor="b"/>
          <a:lstStyle/>
          <a:p>
            <a:pPr marL="0" indent="0" algn="l">
              <a:buNone/>
            </a:pPr>
            <a:r>
              <a:rPr lang="en-US" sz="5400" b="1" dirty="0">
                <a:solidFill>
                  <a:schemeClr val="bg1"/>
                </a:solidFill>
              </a:rPr>
              <a:t>Kwalitijd</a:t>
            </a:r>
            <a:endParaRPr lang="en-US" sz="5400" dirty="0"/>
          </a:p>
        </p:txBody>
      </p:sp>
      <p:sp>
        <p:nvSpPr>
          <p:cNvPr id="3" name="Text 0"/>
          <p:cNvSpPr>
            <a:spLocks noGrp="1"/>
          </p:cNvSpPr>
          <p:nvPr>
            <p:ph type="body" idx="101" hasCustomPrompt="1"/>
          </p:nvPr>
        </p:nvSpPr>
        <p:spPr>
          <a:xfrm>
            <a:off x="667512" y="3474720"/>
            <a:ext cx="6309360" cy="1463040"/>
          </a:xfrm>
          <a:prstGeom prst="rect">
            <a:avLst/>
          </a:prstGeom>
          <a:noFill/>
          <a:ln/>
        </p:spPr>
        <p:txBody>
          <a:bodyPr wrap="square" lIns="0" tIns="0" rIns="0" bIns="0" rtlCol="0" anchor="t"/>
          <a:lstStyle/>
          <a:p>
            <a:pPr marL="0" indent="0">
              <a:buNone/>
            </a:pPr>
            <a:r>
              <a:rPr lang="en-US" sz="2000" dirty="0">
                <a:solidFill>
                  <a:schemeClr val="bg2"/>
                </a:solidFill>
              </a:rPr>
              <a:t>Over kwaliteit van leven, vooruitkijken en samen kiezen</a:t>
            </a:r>
            <a:endParaRPr lang="en-US" sz="2000" dirty="0"/>
          </a:p>
          <a:p>
            <a:pPr marL="0" indent="0">
              <a:buNone/>
            </a:pPr>
            <a:r>
              <a:rPr lang="en-US" sz="1000" dirty="0">
                <a:solidFill>
                  <a:schemeClr val="bg2"/>
                </a:solidFill>
              </a:rPr>
              <a:t> </a:t>
            </a:r>
            <a:endParaRPr lang="en-US" sz="2000" dirty="0"/>
          </a:p>
          <a:p>
            <a:pPr marL="0" indent="0">
              <a:buNone/>
            </a:pPr>
            <a:r>
              <a:rPr lang="en-US" sz="1600" dirty="0">
                <a:solidFill>
                  <a:schemeClr val="accent1"/>
                </a:solidFill>
              </a:rPr>
              <a:t>Albert Jan van Hoek  ·  senior </a:t>
            </a:r>
            <a:r>
              <a:rPr lang="en-US" sz="1600" dirty="0" err="1">
                <a:solidFill>
                  <a:schemeClr val="accent1"/>
                </a:solidFill>
              </a:rPr>
              <a:t>onderzoeker</a:t>
            </a:r>
            <a:endParaRPr lang="en-US" sz="2000" dirty="0"/>
          </a:p>
        </p:txBody>
      </p:sp>
      <p:sp>
        <p:nvSpPr>
          <p:cNvPr id="4" name="Grote kegel"/>
          <p:cNvSpPr/>
          <p:nvPr/>
        </p:nvSpPr>
        <p:spPr>
          <a:xfrm rot="16200000">
            <a:off x="7635240" y="1463040"/>
            <a:ext cx="4206240" cy="3931920"/>
          </a:xfrm>
          <a:prstGeom prst="triangle">
            <a:avLst/>
          </a:prstGeom>
          <a:solidFill>
            <a:schemeClr val="accent1">
              <a:alpha val="18000"/>
            </a:schemeClr>
          </a:solidFill>
          <a:ln/>
        </p:spPr>
        <p:txBody>
          <a:bodyPr/>
          <a:lstStyle/>
          <a:p>
            <a:endParaRPr lang="en-US"/>
          </a:p>
        </p:txBody>
      </p:sp>
      <p:sp>
        <p:nvSpPr>
          <p:cNvPr id="5" name="Grote kegel oog"/>
          <p:cNvSpPr/>
          <p:nvPr/>
        </p:nvSpPr>
        <p:spPr>
          <a:xfrm>
            <a:off x="7708392" y="3364992"/>
            <a:ext cx="128016" cy="128016"/>
          </a:xfrm>
          <a:prstGeom prst="ellipse">
            <a:avLst/>
          </a:prstGeom>
          <a:solidFill>
            <a:schemeClr val="tx1"/>
          </a:solidFill>
          <a:ln/>
        </p:spPr>
        <p:txBody>
          <a:bodyPr/>
          <a:lstStyle/>
          <a:p>
            <a:endParaRPr lang="en-US"/>
          </a:p>
        </p:txBody>
      </p:sp>
      <p:sp>
        <p:nvSpPr>
          <p:cNvPr id="6" name="Middelste kegel"/>
          <p:cNvSpPr/>
          <p:nvPr/>
        </p:nvSpPr>
        <p:spPr>
          <a:xfrm rot="16200000">
            <a:off x="7909560" y="2103120"/>
            <a:ext cx="2377440" cy="2651760"/>
          </a:xfrm>
          <a:prstGeom prst="triangle">
            <a:avLst/>
          </a:prstGeom>
          <a:solidFill>
            <a:schemeClr val="accent1">
              <a:alpha val="40000"/>
            </a:schemeClr>
          </a:solidFill>
          <a:ln/>
        </p:spPr>
        <p:txBody>
          <a:bodyPr/>
          <a:lstStyle/>
          <a:p>
            <a:endParaRPr lang="en-US"/>
          </a:p>
        </p:txBody>
      </p:sp>
      <p:sp>
        <p:nvSpPr>
          <p:cNvPr id="7" name="Middelste kegel oog"/>
          <p:cNvSpPr/>
          <p:nvPr/>
        </p:nvSpPr>
        <p:spPr>
          <a:xfrm>
            <a:off x="7708392" y="3364992"/>
            <a:ext cx="128016" cy="128016"/>
          </a:xfrm>
          <a:prstGeom prst="ellipse">
            <a:avLst/>
          </a:prstGeom>
          <a:solidFill>
            <a:schemeClr val="tx1"/>
          </a:solidFill>
          <a:ln/>
        </p:spPr>
        <p:txBody>
          <a:bodyPr/>
          <a:lstStyle/>
          <a:p>
            <a:endParaRPr lang="en-US"/>
          </a:p>
        </p:txBody>
      </p:sp>
      <p:sp>
        <p:nvSpPr>
          <p:cNvPr id="8" name="Kleine kegel"/>
          <p:cNvSpPr/>
          <p:nvPr/>
        </p:nvSpPr>
        <p:spPr>
          <a:xfrm rot="16200000">
            <a:off x="7955280" y="2743200"/>
            <a:ext cx="1005840" cy="1371600"/>
          </a:xfrm>
          <a:prstGeom prst="triangle">
            <a:avLst/>
          </a:prstGeom>
          <a:solidFill>
            <a:schemeClr val="accent2">
              <a:alpha val="75000"/>
            </a:schemeClr>
          </a:solidFill>
          <a:ln/>
        </p:spPr>
        <p:txBody>
          <a:bodyPr/>
          <a:lstStyle/>
          <a:p>
            <a:endParaRPr lang="en-US"/>
          </a:p>
        </p:txBody>
      </p:sp>
      <p:sp>
        <p:nvSpPr>
          <p:cNvPr id="9" name="Kleine kegel oog"/>
          <p:cNvSpPr/>
          <p:nvPr/>
        </p:nvSpPr>
        <p:spPr>
          <a:xfrm>
            <a:off x="7708392" y="3364992"/>
            <a:ext cx="128016" cy="128016"/>
          </a:xfrm>
          <a:prstGeom prst="ellipse">
            <a:avLst/>
          </a:prstGeom>
          <a:solidFill>
            <a:schemeClr val="tx1"/>
          </a:solidFill>
          <a:ln/>
        </p:spPr>
        <p:txBody>
          <a:bodyPr/>
          <a:lstStyle/>
          <a:p>
            <a:endParaRPr lang="en-US"/>
          </a:p>
        </p:txBody>
      </p:sp>
      <p:sp>
        <p:nvSpPr>
          <p:cNvPr id="10" name="Oog"/>
          <p:cNvSpPr/>
          <p:nvPr/>
        </p:nvSpPr>
        <p:spPr>
          <a:xfrm>
            <a:off x="7699248" y="3355848"/>
            <a:ext cx="146304" cy="146304"/>
          </a:xfrm>
          <a:prstGeom prst="ellipse">
            <a:avLst/>
          </a:prstGeom>
          <a:solidFill>
            <a:schemeClr val="bg1"/>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OVER MIJ</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Wie ben ik?</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Biologie, wat economie, en een beetje filosofie</a:t>
            </a:r>
            <a:endParaRPr lang="en-US" sz="1500" dirty="0"/>
          </a:p>
        </p:txBody>
      </p:sp>
      <p:sp>
        <p:nvSpPr>
          <p:cNvPr id="5" name="Engeland"/>
          <p:cNvSpPr/>
          <p:nvPr/>
        </p:nvSpPr>
        <p:spPr>
          <a:xfrm>
            <a:off x="667512" y="1783080"/>
            <a:ext cx="5120640" cy="2423160"/>
          </a:xfrm>
          <a:prstGeom prst="roundRect">
            <a:avLst>
              <a:gd name="adj" fmla="val 4706"/>
            </a:avLst>
          </a:prstGeom>
          <a:solidFill>
            <a:schemeClr val="bg2"/>
          </a:solidFill>
          <a:ln/>
        </p:spPr>
        <p:txBody>
          <a:bodyPr/>
          <a:lstStyle/>
          <a:p>
            <a:endParaRPr lang="en-US"/>
          </a:p>
        </p:txBody>
      </p:sp>
      <p:sp>
        <p:nvSpPr>
          <p:cNvPr id="6" name="Text 4"/>
          <p:cNvSpPr txBox="1"/>
          <p:nvPr/>
        </p:nvSpPr>
        <p:spPr>
          <a:xfrm>
            <a:off x="987552" y="1965960"/>
            <a:ext cx="4480560" cy="731520"/>
          </a:xfrm>
          <a:prstGeom prst="rect">
            <a:avLst/>
          </a:prstGeom>
          <a:noFill/>
          <a:ln/>
        </p:spPr>
        <p:txBody>
          <a:bodyPr wrap="square" lIns="0" tIns="0" rIns="0" bIns="0" rtlCol="0" anchor="t"/>
          <a:lstStyle/>
          <a:p>
            <a:pPr marL="0" indent="0">
              <a:buNone/>
            </a:pPr>
            <a:r>
              <a:rPr lang="en-US" sz="3600" b="1" dirty="0">
                <a:solidFill>
                  <a:schemeClr val="accent1"/>
                </a:solidFill>
              </a:rPr>
              <a:t>10 jaar</a:t>
            </a:r>
            <a:endParaRPr lang="en-US" sz="3600" dirty="0"/>
          </a:p>
        </p:txBody>
      </p:sp>
      <p:sp>
        <p:nvSpPr>
          <p:cNvPr id="7" name="Text 5"/>
          <p:cNvSpPr txBox="1"/>
          <p:nvPr/>
        </p:nvSpPr>
        <p:spPr>
          <a:xfrm>
            <a:off x="987552" y="2697480"/>
            <a:ext cx="4480560" cy="365760"/>
          </a:xfrm>
          <a:prstGeom prst="rect">
            <a:avLst/>
          </a:prstGeom>
          <a:noFill/>
          <a:ln/>
        </p:spPr>
        <p:txBody>
          <a:bodyPr wrap="square" lIns="0" tIns="0" rIns="0" bIns="0" rtlCol="0" anchor="t"/>
          <a:lstStyle/>
          <a:p>
            <a:pPr marL="0" indent="0">
              <a:buNone/>
            </a:pPr>
            <a:r>
              <a:rPr lang="en-US" sz="2000" b="1" dirty="0">
                <a:solidFill>
                  <a:schemeClr val="tx1"/>
                </a:solidFill>
              </a:rPr>
              <a:t>Engeland</a:t>
            </a:r>
            <a:endParaRPr lang="en-US" sz="2000" dirty="0"/>
          </a:p>
        </p:txBody>
      </p:sp>
      <p:sp>
        <p:nvSpPr>
          <p:cNvPr id="8" name="Text 6"/>
          <p:cNvSpPr txBox="1"/>
          <p:nvPr/>
        </p:nvSpPr>
        <p:spPr>
          <a:xfrm>
            <a:off x="987552" y="3154680"/>
            <a:ext cx="4572000" cy="8686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8 jaar bij het 'RIVM van Engeland' (HPA, PHE, UKHSA)</a:t>
            </a:r>
            <a:endParaRPr lang="en-US" sz="1500" dirty="0"/>
          </a:p>
          <a:p>
            <a:pPr marL="342900" indent="-342900">
              <a:spcAft>
                <a:spcPts val="400"/>
              </a:spcAft>
              <a:buSzPct val="100000"/>
              <a:buChar char="•"/>
            </a:pPr>
            <a:r>
              <a:rPr lang="en-US" sz="1500" dirty="0">
                <a:solidFill>
                  <a:schemeClr val="tx1"/>
                </a:solidFill>
              </a:rPr>
              <a:t>2 jaar London School of Hygiene and Tropical Medicine</a:t>
            </a:r>
            <a:endParaRPr lang="en-US" sz="1500" dirty="0"/>
          </a:p>
        </p:txBody>
      </p:sp>
      <p:sp>
        <p:nvSpPr>
          <p:cNvPr id="9" name="RIVM"/>
          <p:cNvSpPr/>
          <p:nvPr/>
        </p:nvSpPr>
        <p:spPr>
          <a:xfrm>
            <a:off x="6153912" y="1783080"/>
            <a:ext cx="5367528" cy="2423160"/>
          </a:xfrm>
          <a:prstGeom prst="roundRect">
            <a:avLst>
              <a:gd name="adj" fmla="val 4706"/>
            </a:avLst>
          </a:prstGeom>
          <a:solidFill>
            <a:schemeClr val="bg2"/>
          </a:solidFill>
          <a:ln/>
        </p:spPr>
        <p:txBody>
          <a:bodyPr/>
          <a:lstStyle/>
          <a:p>
            <a:endParaRPr lang="en-US"/>
          </a:p>
        </p:txBody>
      </p:sp>
      <p:sp>
        <p:nvSpPr>
          <p:cNvPr id="10" name="Text 8"/>
          <p:cNvSpPr txBox="1"/>
          <p:nvPr/>
        </p:nvSpPr>
        <p:spPr>
          <a:xfrm>
            <a:off x="6473952" y="1965960"/>
            <a:ext cx="4754880" cy="731520"/>
          </a:xfrm>
          <a:prstGeom prst="rect">
            <a:avLst/>
          </a:prstGeom>
          <a:noFill/>
          <a:ln/>
        </p:spPr>
        <p:txBody>
          <a:bodyPr wrap="square" lIns="0" tIns="0" rIns="0" bIns="0" rtlCol="0" anchor="t"/>
          <a:lstStyle/>
          <a:p>
            <a:pPr marL="0" indent="0">
              <a:buNone/>
            </a:pPr>
            <a:r>
              <a:rPr lang="en-US" sz="3600" b="1" dirty="0">
                <a:solidFill>
                  <a:schemeClr val="accent2"/>
                </a:solidFill>
              </a:rPr>
              <a:t>9 jaar</a:t>
            </a:r>
            <a:endParaRPr lang="en-US" sz="3600" dirty="0"/>
          </a:p>
        </p:txBody>
      </p:sp>
      <p:sp>
        <p:nvSpPr>
          <p:cNvPr id="11" name="Text 9"/>
          <p:cNvSpPr txBox="1"/>
          <p:nvPr/>
        </p:nvSpPr>
        <p:spPr>
          <a:xfrm>
            <a:off x="6473952" y="2697480"/>
            <a:ext cx="4754880" cy="365760"/>
          </a:xfrm>
          <a:prstGeom prst="rect">
            <a:avLst/>
          </a:prstGeom>
          <a:noFill/>
          <a:ln/>
        </p:spPr>
        <p:txBody>
          <a:bodyPr wrap="square" lIns="0" tIns="0" rIns="0" bIns="0" rtlCol="0" anchor="t"/>
          <a:lstStyle/>
          <a:p>
            <a:pPr marL="0" indent="0">
              <a:buNone/>
            </a:pPr>
            <a:r>
              <a:rPr lang="en-US" sz="2000" b="1" dirty="0">
                <a:solidFill>
                  <a:schemeClr val="tx1"/>
                </a:solidFill>
              </a:rPr>
              <a:t>RIVM</a:t>
            </a:r>
            <a:endParaRPr lang="en-US" sz="2000" dirty="0"/>
          </a:p>
        </p:txBody>
      </p:sp>
      <p:sp>
        <p:nvSpPr>
          <p:cNvPr id="12" name="Text 10"/>
          <p:cNvSpPr txBox="1"/>
          <p:nvPr/>
        </p:nvSpPr>
        <p:spPr>
          <a:xfrm>
            <a:off x="6473952" y="3154680"/>
            <a:ext cx="4846320" cy="8686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Senior gezondheidseconoom</a:t>
            </a:r>
            <a:endParaRPr lang="en-US" sz="1500" dirty="0"/>
          </a:p>
          <a:p>
            <a:pPr marL="342900" indent="-342900">
              <a:spcAft>
                <a:spcPts val="400"/>
              </a:spcAft>
              <a:buSzPct val="100000"/>
              <a:buChar char="•"/>
            </a:pPr>
            <a:r>
              <a:rPr lang="en-US" sz="1500" dirty="0">
                <a:solidFill>
                  <a:schemeClr val="tx1"/>
                </a:solidFill>
              </a:rPr>
              <a:t>Projectleider Infectieradar</a:t>
            </a:r>
            <a:endParaRPr lang="en-US" sz="1500" dirty="0"/>
          </a:p>
        </p:txBody>
      </p:sp>
      <p:sp>
        <p:nvSpPr>
          <p:cNvPr id="13" name="Onderzoek"/>
          <p:cNvSpPr/>
          <p:nvPr/>
        </p:nvSpPr>
        <p:spPr>
          <a:xfrm>
            <a:off x="667512" y="4389120"/>
            <a:ext cx="10856671" cy="1691640"/>
          </a:xfrm>
          <a:prstGeom prst="roundRect">
            <a:avLst>
              <a:gd name="adj" fmla="val 6486"/>
            </a:avLst>
          </a:prstGeom>
          <a:solidFill>
            <a:schemeClr val="accent2">
              <a:alpha val="12000"/>
            </a:schemeClr>
          </a:solidFill>
          <a:ln/>
        </p:spPr>
        <p:txBody>
          <a:bodyPr/>
          <a:lstStyle/>
          <a:p>
            <a:endParaRPr lang="en-US"/>
          </a:p>
        </p:txBody>
      </p:sp>
      <p:sp>
        <p:nvSpPr>
          <p:cNvPr id="14" name="Text 12"/>
          <p:cNvSpPr txBox="1"/>
          <p:nvPr/>
        </p:nvSpPr>
        <p:spPr>
          <a:xfrm>
            <a:off x="987552" y="4572000"/>
            <a:ext cx="10216591" cy="365760"/>
          </a:xfrm>
          <a:prstGeom prst="rect">
            <a:avLst/>
          </a:prstGeom>
          <a:noFill/>
          <a:ln/>
        </p:spPr>
        <p:txBody>
          <a:bodyPr wrap="square" lIns="0" tIns="0" rIns="0" bIns="0" rtlCol="0" anchor="t"/>
          <a:lstStyle/>
          <a:p>
            <a:pPr marL="0" indent="0">
              <a:buNone/>
            </a:pPr>
            <a:r>
              <a:rPr lang="en-US" sz="1600" b="1" dirty="0">
                <a:solidFill>
                  <a:schemeClr val="tx1"/>
                </a:solidFill>
              </a:rPr>
              <a:t>Lid commissie vaccinaties van de Gezondheidsraad, als gezondheidseconoom (2015–2017)</a:t>
            </a:r>
            <a:endParaRPr lang="en-US" sz="1600" dirty="0"/>
          </a:p>
        </p:txBody>
      </p:sp>
      <p:sp>
        <p:nvSpPr>
          <p:cNvPr id="15" name="Text 13"/>
          <p:cNvSpPr txBox="1"/>
          <p:nvPr/>
        </p:nvSpPr>
        <p:spPr>
          <a:xfrm>
            <a:off x="987552" y="4983480"/>
            <a:ext cx="10216591" cy="914400"/>
          </a:xfrm>
          <a:prstGeom prst="rect">
            <a:avLst/>
          </a:prstGeom>
          <a:noFill/>
          <a:ln/>
        </p:spPr>
        <p:txBody>
          <a:bodyPr wrap="square" lIns="0" tIns="0" rIns="0" bIns="0" rtlCol="0" anchor="t"/>
          <a:lstStyle/>
          <a:p>
            <a:pPr marL="0" indent="0">
              <a:buNone/>
            </a:pPr>
            <a:r>
              <a:rPr lang="en-US" sz="1500" dirty="0">
                <a:solidFill>
                  <a:schemeClr val="tx1"/>
                </a:solidFill>
              </a:rPr>
              <a:t>Onderzoek en publicaties over kwaliteit van leven, bijvoorbeeld: kwaliteit van leven tijdens de coronapandemie (PLOS One, 2024) en wat Nederlanders belangrijk vinden bij keuzes over vaccinatie (Social Science &amp; Medicine, 2019).</a:t>
            </a:r>
            <a:endParaRPr lang="en-US" sz="15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INTELLIGENTIE  •  DE KEGEL</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Hoe ver kijk je vooruit?</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Michael Levin noemt het de cognitieve lichtkegel: wat je kunt waarnemen, voorspellen en proberen te beïnvloeden</a:t>
            </a:r>
            <a:endParaRPr lang="en-US" sz="1500" dirty="0"/>
          </a:p>
        </p:txBody>
      </p:sp>
      <p:sp>
        <p:nvSpPr>
          <p:cNvPr id="5" name="Text 3"/>
          <p:cNvSpPr txBox="1"/>
          <p:nvPr/>
        </p:nvSpPr>
        <p:spPr>
          <a:xfrm>
            <a:off x="667512" y="2039112"/>
            <a:ext cx="1463040" cy="411480"/>
          </a:xfrm>
          <a:prstGeom prst="rect">
            <a:avLst/>
          </a:prstGeom>
          <a:noFill/>
          <a:ln/>
        </p:spPr>
        <p:txBody>
          <a:bodyPr wrap="square" lIns="0" tIns="0" rIns="0" bIns="0" rtlCol="0" anchor="ctr"/>
          <a:lstStyle/>
          <a:p>
            <a:pPr marL="0" indent="0">
              <a:buNone/>
            </a:pPr>
            <a:r>
              <a:rPr lang="en-US" sz="2000" b="1" dirty="0">
                <a:solidFill>
                  <a:schemeClr val="tx1"/>
                </a:solidFill>
              </a:rPr>
              <a:t>Bacterie</a:t>
            </a:r>
            <a:endParaRPr lang="en-US" sz="2000" dirty="0"/>
          </a:p>
        </p:txBody>
      </p:sp>
      <p:sp>
        <p:nvSpPr>
          <p:cNvPr id="6" name="Kegel Bacterie"/>
          <p:cNvSpPr/>
          <p:nvPr/>
        </p:nvSpPr>
        <p:spPr>
          <a:xfrm rot="16200000">
            <a:off x="2651760" y="1691640"/>
            <a:ext cx="457200" cy="1097280"/>
          </a:xfrm>
          <a:prstGeom prst="triangle">
            <a:avLst/>
          </a:prstGeom>
          <a:solidFill>
            <a:schemeClr val="accent6">
              <a:alpha val="70000"/>
            </a:schemeClr>
          </a:solidFill>
          <a:ln/>
        </p:spPr>
        <p:txBody>
          <a:bodyPr/>
          <a:lstStyle/>
          <a:p>
            <a:endParaRPr lang="en-US"/>
          </a:p>
        </p:txBody>
      </p:sp>
      <p:sp>
        <p:nvSpPr>
          <p:cNvPr id="7" name="Kegel Bacterie oog"/>
          <p:cNvSpPr/>
          <p:nvPr/>
        </p:nvSpPr>
        <p:spPr>
          <a:xfrm>
            <a:off x="2267712" y="2176272"/>
            <a:ext cx="128016" cy="128016"/>
          </a:xfrm>
          <a:prstGeom prst="ellipse">
            <a:avLst/>
          </a:prstGeom>
          <a:solidFill>
            <a:schemeClr val="tx1"/>
          </a:solidFill>
          <a:ln/>
        </p:spPr>
        <p:txBody>
          <a:bodyPr/>
          <a:lstStyle/>
          <a:p>
            <a:endParaRPr lang="en-US"/>
          </a:p>
        </p:txBody>
      </p:sp>
      <p:sp>
        <p:nvSpPr>
          <p:cNvPr id="8" name="Text 6"/>
          <p:cNvSpPr txBox="1"/>
          <p:nvPr/>
        </p:nvSpPr>
        <p:spPr>
          <a:xfrm>
            <a:off x="3611880" y="2039112"/>
            <a:ext cx="7909560" cy="411480"/>
          </a:xfrm>
          <a:prstGeom prst="rect">
            <a:avLst/>
          </a:prstGeom>
          <a:noFill/>
          <a:ln/>
        </p:spPr>
        <p:txBody>
          <a:bodyPr wrap="square" lIns="0" tIns="0" rIns="0" bIns="0" rtlCol="0" anchor="ctr"/>
          <a:lstStyle/>
          <a:p>
            <a:pPr marL="0" indent="0">
              <a:buNone/>
            </a:pPr>
            <a:r>
              <a:rPr lang="en-US" sz="1600" dirty="0">
                <a:solidFill>
                  <a:schemeClr val="tx2"/>
                </a:solidFill>
              </a:rPr>
              <a:t>een paar micrometer, een paar minuten</a:t>
            </a:r>
            <a:endParaRPr lang="en-US" sz="1600" dirty="0"/>
          </a:p>
        </p:txBody>
      </p:sp>
      <p:sp>
        <p:nvSpPr>
          <p:cNvPr id="9" name="Text 7"/>
          <p:cNvSpPr txBox="1"/>
          <p:nvPr/>
        </p:nvSpPr>
        <p:spPr>
          <a:xfrm>
            <a:off x="667512" y="3364992"/>
            <a:ext cx="1463040" cy="411480"/>
          </a:xfrm>
          <a:prstGeom prst="rect">
            <a:avLst/>
          </a:prstGeom>
          <a:noFill/>
          <a:ln/>
        </p:spPr>
        <p:txBody>
          <a:bodyPr wrap="square" lIns="0" tIns="0" rIns="0" bIns="0" rtlCol="0" anchor="ctr"/>
          <a:lstStyle/>
          <a:p>
            <a:pPr marL="0" indent="0">
              <a:buNone/>
            </a:pPr>
            <a:r>
              <a:rPr lang="en-US" sz="2000" b="1" dirty="0">
                <a:solidFill>
                  <a:schemeClr val="tx1"/>
                </a:solidFill>
              </a:rPr>
              <a:t>Hond</a:t>
            </a:r>
            <a:endParaRPr lang="en-US" sz="2000" dirty="0"/>
          </a:p>
        </p:txBody>
      </p:sp>
      <p:sp>
        <p:nvSpPr>
          <p:cNvPr id="10" name="Kegel Hond"/>
          <p:cNvSpPr/>
          <p:nvPr/>
        </p:nvSpPr>
        <p:spPr>
          <a:xfrm rot="16200000">
            <a:off x="3406140" y="2011680"/>
            <a:ext cx="960120" cy="3108960"/>
          </a:xfrm>
          <a:prstGeom prst="triangle">
            <a:avLst/>
          </a:prstGeom>
          <a:solidFill>
            <a:schemeClr val="accent1">
              <a:alpha val="70000"/>
            </a:schemeClr>
          </a:solidFill>
          <a:ln/>
        </p:spPr>
        <p:txBody>
          <a:bodyPr/>
          <a:lstStyle/>
          <a:p>
            <a:endParaRPr lang="en-US"/>
          </a:p>
        </p:txBody>
      </p:sp>
      <p:sp>
        <p:nvSpPr>
          <p:cNvPr id="11" name="Kegel Hond oog"/>
          <p:cNvSpPr/>
          <p:nvPr/>
        </p:nvSpPr>
        <p:spPr>
          <a:xfrm>
            <a:off x="2267712" y="3502152"/>
            <a:ext cx="128016" cy="128016"/>
          </a:xfrm>
          <a:prstGeom prst="ellipse">
            <a:avLst/>
          </a:prstGeom>
          <a:solidFill>
            <a:schemeClr val="tx1"/>
          </a:solidFill>
          <a:ln/>
        </p:spPr>
        <p:txBody>
          <a:bodyPr/>
          <a:lstStyle/>
          <a:p>
            <a:endParaRPr lang="en-US"/>
          </a:p>
        </p:txBody>
      </p:sp>
      <p:sp>
        <p:nvSpPr>
          <p:cNvPr id="12" name="Text 10"/>
          <p:cNvSpPr txBox="1"/>
          <p:nvPr/>
        </p:nvSpPr>
        <p:spPr>
          <a:xfrm>
            <a:off x="5623560" y="3364992"/>
            <a:ext cx="5897880" cy="411480"/>
          </a:xfrm>
          <a:prstGeom prst="rect">
            <a:avLst/>
          </a:prstGeom>
          <a:noFill/>
          <a:ln/>
        </p:spPr>
        <p:txBody>
          <a:bodyPr wrap="square" lIns="0" tIns="0" rIns="0" bIns="0" rtlCol="0" anchor="ctr"/>
          <a:lstStyle/>
          <a:p>
            <a:pPr marL="0" indent="0">
              <a:buNone/>
            </a:pPr>
            <a:r>
              <a:rPr lang="en-US" sz="1600" dirty="0">
                <a:solidFill>
                  <a:schemeClr val="tx2"/>
                </a:solidFill>
              </a:rPr>
              <a:t>zijn buurt, een paar dagen</a:t>
            </a:r>
            <a:endParaRPr lang="en-US" sz="1600" dirty="0"/>
          </a:p>
        </p:txBody>
      </p:sp>
      <p:sp>
        <p:nvSpPr>
          <p:cNvPr id="13" name="Text 11"/>
          <p:cNvSpPr txBox="1"/>
          <p:nvPr/>
        </p:nvSpPr>
        <p:spPr>
          <a:xfrm>
            <a:off x="667512" y="4690872"/>
            <a:ext cx="1463040" cy="411480"/>
          </a:xfrm>
          <a:prstGeom prst="rect">
            <a:avLst/>
          </a:prstGeom>
          <a:noFill/>
          <a:ln/>
        </p:spPr>
        <p:txBody>
          <a:bodyPr wrap="square" lIns="0" tIns="0" rIns="0" bIns="0" rtlCol="0" anchor="ctr"/>
          <a:lstStyle/>
          <a:p>
            <a:pPr marL="0" indent="0">
              <a:buNone/>
            </a:pPr>
            <a:r>
              <a:rPr lang="en-US" sz="2000" b="1" dirty="0">
                <a:solidFill>
                  <a:schemeClr val="tx1"/>
                </a:solidFill>
              </a:rPr>
              <a:t>Mens</a:t>
            </a:r>
            <a:endParaRPr lang="en-US" sz="2000" dirty="0"/>
          </a:p>
        </p:txBody>
      </p:sp>
      <p:sp>
        <p:nvSpPr>
          <p:cNvPr id="14" name="Kegel Mens"/>
          <p:cNvSpPr/>
          <p:nvPr/>
        </p:nvSpPr>
        <p:spPr>
          <a:xfrm rot="16200000">
            <a:off x="4617720" y="1874520"/>
            <a:ext cx="1463040" cy="6035040"/>
          </a:xfrm>
          <a:prstGeom prst="triangle">
            <a:avLst/>
          </a:prstGeom>
          <a:solidFill>
            <a:schemeClr val="accent2">
              <a:alpha val="70000"/>
            </a:schemeClr>
          </a:solidFill>
          <a:ln/>
        </p:spPr>
        <p:txBody>
          <a:bodyPr/>
          <a:lstStyle/>
          <a:p>
            <a:endParaRPr lang="en-US"/>
          </a:p>
        </p:txBody>
      </p:sp>
      <p:sp>
        <p:nvSpPr>
          <p:cNvPr id="15" name="Kegel Mens oog"/>
          <p:cNvSpPr/>
          <p:nvPr/>
        </p:nvSpPr>
        <p:spPr>
          <a:xfrm>
            <a:off x="2267712" y="4828032"/>
            <a:ext cx="128016" cy="128016"/>
          </a:xfrm>
          <a:prstGeom prst="ellipse">
            <a:avLst/>
          </a:prstGeom>
          <a:solidFill>
            <a:schemeClr val="tx1"/>
          </a:solidFill>
          <a:ln/>
        </p:spPr>
        <p:txBody>
          <a:bodyPr/>
          <a:lstStyle/>
          <a:p>
            <a:endParaRPr lang="en-US"/>
          </a:p>
        </p:txBody>
      </p:sp>
      <p:sp>
        <p:nvSpPr>
          <p:cNvPr id="16" name="Text 14"/>
          <p:cNvSpPr txBox="1"/>
          <p:nvPr/>
        </p:nvSpPr>
        <p:spPr>
          <a:xfrm>
            <a:off x="8549640" y="4690872"/>
            <a:ext cx="2971800" cy="411480"/>
          </a:xfrm>
          <a:prstGeom prst="rect">
            <a:avLst/>
          </a:prstGeom>
          <a:noFill/>
          <a:ln/>
        </p:spPr>
        <p:txBody>
          <a:bodyPr wrap="square" lIns="0" tIns="0" rIns="0" bIns="0" rtlCol="0" anchor="ctr"/>
          <a:lstStyle/>
          <a:p>
            <a:pPr marL="0" indent="0">
              <a:buNone/>
            </a:pPr>
            <a:r>
              <a:rPr lang="en-US" sz="1600" dirty="0">
                <a:solidFill>
                  <a:schemeClr val="tx2"/>
                </a:solidFill>
              </a:rPr>
              <a:t>andere continenten, volgende generaties</a:t>
            </a:r>
            <a:endParaRPr lang="en-US" sz="1600" dirty="0"/>
          </a:p>
        </p:txBody>
      </p:sp>
      <p:sp>
        <p:nvSpPr>
          <p:cNvPr id="19" name="Bron"/>
          <p:cNvSpPr txBox="1"/>
          <p:nvPr/>
        </p:nvSpPr>
        <p:spPr>
          <a:xfrm>
            <a:off x="667512" y="6355080"/>
            <a:ext cx="10424160" cy="292608"/>
          </a:xfrm>
          <a:prstGeom prst="rect">
            <a:avLst/>
          </a:prstGeom>
          <a:noFill/>
          <a:ln/>
        </p:spPr>
        <p:txBody>
          <a:bodyPr wrap="square" lIns="0" tIns="0" rIns="0" bIns="0" rtlCol="0" anchor="t"/>
          <a:lstStyle/>
          <a:p>
            <a:pPr marL="0" indent="0">
              <a:buNone/>
            </a:pPr>
            <a:r>
              <a:rPr lang="en-US" sz="1000" dirty="0">
                <a:solidFill>
                  <a:schemeClr val="tx2"/>
                </a:solidFill>
              </a:rPr>
              <a:t>Bron: Levin, M. (2019). The Computational Boundary of a 'Self'. Frontiers in Psychology 10:2688. Voorbeelden vereenvoudigd.</a:t>
            </a:r>
            <a:endParaRPr lang="en-US" sz="10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COLLECTIEVE INTELLIGENTIE</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Samen zien we verder</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Wat buiten mijn kegel valt, kan ik alleen zien via die van jou</a:t>
            </a:r>
            <a:endParaRPr lang="en-US" sz="1500" dirty="0"/>
          </a:p>
        </p:txBody>
      </p:sp>
      <p:sp>
        <p:nvSpPr>
          <p:cNvPr id="5" name="Gezamenlijke kegel"/>
          <p:cNvSpPr/>
          <p:nvPr/>
        </p:nvSpPr>
        <p:spPr>
          <a:xfrm rot="16200000">
            <a:off x="1600200" y="1325880"/>
            <a:ext cx="3931920" cy="5120640"/>
          </a:xfrm>
          <a:prstGeom prst="triangle">
            <a:avLst/>
          </a:prstGeom>
          <a:solidFill>
            <a:schemeClr val="accent1">
              <a:alpha val="15000"/>
            </a:schemeClr>
          </a:solidFill>
          <a:ln/>
        </p:spPr>
        <p:txBody>
          <a:bodyPr/>
          <a:lstStyle/>
          <a:p>
            <a:endParaRPr lang="en-US"/>
          </a:p>
        </p:txBody>
      </p:sp>
      <p:sp>
        <p:nvSpPr>
          <p:cNvPr id="6" name="Gezamenlijke kegel oog"/>
          <p:cNvSpPr/>
          <p:nvPr/>
        </p:nvSpPr>
        <p:spPr>
          <a:xfrm>
            <a:off x="941832" y="3822192"/>
            <a:ext cx="128016" cy="128016"/>
          </a:xfrm>
          <a:prstGeom prst="ellipse">
            <a:avLst/>
          </a:prstGeom>
          <a:solidFill>
            <a:schemeClr val="tx1"/>
          </a:solidFill>
          <a:ln/>
        </p:spPr>
        <p:txBody>
          <a:bodyPr/>
          <a:lstStyle/>
          <a:p>
            <a:endParaRPr lang="en-US"/>
          </a:p>
        </p:txBody>
      </p:sp>
      <p:sp>
        <p:nvSpPr>
          <p:cNvPr id="7" name="Kegel 1"/>
          <p:cNvSpPr/>
          <p:nvPr/>
        </p:nvSpPr>
        <p:spPr>
          <a:xfrm rot="16200000">
            <a:off x="1737360" y="2011680"/>
            <a:ext cx="822960" cy="1737360"/>
          </a:xfrm>
          <a:prstGeom prst="triangle">
            <a:avLst/>
          </a:prstGeom>
          <a:solidFill>
            <a:schemeClr val="accent1">
              <a:alpha val="65000"/>
            </a:schemeClr>
          </a:solidFill>
          <a:ln/>
        </p:spPr>
        <p:txBody>
          <a:bodyPr/>
          <a:lstStyle/>
          <a:p>
            <a:endParaRPr lang="en-US"/>
          </a:p>
        </p:txBody>
      </p:sp>
      <p:sp>
        <p:nvSpPr>
          <p:cNvPr id="8" name="Kegel 1 oog"/>
          <p:cNvSpPr/>
          <p:nvPr/>
        </p:nvSpPr>
        <p:spPr>
          <a:xfrm>
            <a:off x="1216152" y="2816352"/>
            <a:ext cx="128016" cy="128016"/>
          </a:xfrm>
          <a:prstGeom prst="ellipse">
            <a:avLst/>
          </a:prstGeom>
          <a:solidFill>
            <a:schemeClr val="tx1"/>
          </a:solidFill>
          <a:ln/>
        </p:spPr>
        <p:txBody>
          <a:bodyPr/>
          <a:lstStyle/>
          <a:p>
            <a:endParaRPr lang="en-US"/>
          </a:p>
        </p:txBody>
      </p:sp>
      <p:sp>
        <p:nvSpPr>
          <p:cNvPr id="9" name="Kegel 2"/>
          <p:cNvSpPr/>
          <p:nvPr/>
        </p:nvSpPr>
        <p:spPr>
          <a:xfrm rot="16200000">
            <a:off x="2331720" y="2834640"/>
            <a:ext cx="914400" cy="2103120"/>
          </a:xfrm>
          <a:prstGeom prst="triangle">
            <a:avLst/>
          </a:prstGeom>
          <a:solidFill>
            <a:schemeClr val="accent2">
              <a:alpha val="65000"/>
            </a:schemeClr>
          </a:solidFill>
          <a:ln/>
        </p:spPr>
        <p:txBody>
          <a:bodyPr/>
          <a:lstStyle/>
          <a:p>
            <a:endParaRPr lang="en-US"/>
          </a:p>
        </p:txBody>
      </p:sp>
      <p:sp>
        <p:nvSpPr>
          <p:cNvPr id="10" name="Kegel 2 oog"/>
          <p:cNvSpPr/>
          <p:nvPr/>
        </p:nvSpPr>
        <p:spPr>
          <a:xfrm>
            <a:off x="1673352" y="3822192"/>
            <a:ext cx="128016" cy="128016"/>
          </a:xfrm>
          <a:prstGeom prst="ellipse">
            <a:avLst/>
          </a:prstGeom>
          <a:solidFill>
            <a:schemeClr val="tx1"/>
          </a:solidFill>
          <a:ln/>
        </p:spPr>
        <p:txBody>
          <a:bodyPr/>
          <a:lstStyle/>
          <a:p>
            <a:endParaRPr lang="en-US"/>
          </a:p>
        </p:txBody>
      </p:sp>
      <p:sp>
        <p:nvSpPr>
          <p:cNvPr id="11" name="Kegel 3"/>
          <p:cNvSpPr/>
          <p:nvPr/>
        </p:nvSpPr>
        <p:spPr>
          <a:xfrm rot="16200000">
            <a:off x="1691640" y="3931920"/>
            <a:ext cx="822960" cy="1828800"/>
          </a:xfrm>
          <a:prstGeom prst="triangle">
            <a:avLst/>
          </a:prstGeom>
          <a:solidFill>
            <a:schemeClr val="accent5">
              <a:alpha val="65000"/>
            </a:schemeClr>
          </a:solidFill>
          <a:ln/>
        </p:spPr>
        <p:txBody>
          <a:bodyPr/>
          <a:lstStyle/>
          <a:p>
            <a:endParaRPr lang="en-US"/>
          </a:p>
        </p:txBody>
      </p:sp>
      <p:sp>
        <p:nvSpPr>
          <p:cNvPr id="12" name="Kegel 3 oog"/>
          <p:cNvSpPr/>
          <p:nvPr/>
        </p:nvSpPr>
        <p:spPr>
          <a:xfrm>
            <a:off x="1124712" y="4782312"/>
            <a:ext cx="128016" cy="128016"/>
          </a:xfrm>
          <a:prstGeom prst="ellipse">
            <a:avLst/>
          </a:prstGeom>
          <a:solidFill>
            <a:schemeClr val="tx1"/>
          </a:solidFill>
          <a:ln/>
        </p:spPr>
        <p:txBody>
          <a:bodyPr/>
          <a:lstStyle/>
          <a:p>
            <a:endParaRPr lang="en-US"/>
          </a:p>
        </p:txBody>
      </p:sp>
      <p:sp>
        <p:nvSpPr>
          <p:cNvPr id="13" name="Kegel 4"/>
          <p:cNvSpPr/>
          <p:nvPr/>
        </p:nvSpPr>
        <p:spPr>
          <a:xfrm rot="16200000">
            <a:off x="2834640" y="2560320"/>
            <a:ext cx="731520" cy="1645920"/>
          </a:xfrm>
          <a:prstGeom prst="triangle">
            <a:avLst/>
          </a:prstGeom>
          <a:solidFill>
            <a:schemeClr val="accent4">
              <a:alpha val="65000"/>
            </a:schemeClr>
          </a:solidFill>
          <a:ln/>
        </p:spPr>
        <p:txBody>
          <a:bodyPr/>
          <a:lstStyle/>
          <a:p>
            <a:endParaRPr lang="en-US"/>
          </a:p>
        </p:txBody>
      </p:sp>
      <p:sp>
        <p:nvSpPr>
          <p:cNvPr id="14" name="Kegel 4 oog"/>
          <p:cNvSpPr/>
          <p:nvPr/>
        </p:nvSpPr>
        <p:spPr>
          <a:xfrm>
            <a:off x="2313432" y="3319272"/>
            <a:ext cx="128016" cy="128016"/>
          </a:xfrm>
          <a:prstGeom prst="ellipse">
            <a:avLst/>
          </a:prstGeom>
          <a:solidFill>
            <a:schemeClr val="tx1"/>
          </a:solidFill>
          <a:ln/>
        </p:spPr>
        <p:txBody>
          <a:bodyPr/>
          <a:lstStyle/>
          <a:p>
            <a:endParaRPr lang="en-US"/>
          </a:p>
        </p:txBody>
      </p:sp>
      <p:sp>
        <p:nvSpPr>
          <p:cNvPr id="15" name="Kegel 5"/>
          <p:cNvSpPr/>
          <p:nvPr/>
        </p:nvSpPr>
        <p:spPr>
          <a:xfrm rot="16200000">
            <a:off x="2766060" y="3566160"/>
            <a:ext cx="777240" cy="1737360"/>
          </a:xfrm>
          <a:prstGeom prst="triangle">
            <a:avLst/>
          </a:prstGeom>
          <a:solidFill>
            <a:schemeClr val="accent6">
              <a:alpha val="65000"/>
            </a:schemeClr>
          </a:solidFill>
          <a:ln/>
        </p:spPr>
        <p:txBody>
          <a:bodyPr/>
          <a:lstStyle/>
          <a:p>
            <a:endParaRPr lang="en-US"/>
          </a:p>
        </p:txBody>
      </p:sp>
      <p:sp>
        <p:nvSpPr>
          <p:cNvPr id="16" name="Kegel 5 oog"/>
          <p:cNvSpPr/>
          <p:nvPr/>
        </p:nvSpPr>
        <p:spPr>
          <a:xfrm>
            <a:off x="2221992" y="4370832"/>
            <a:ext cx="128016" cy="128016"/>
          </a:xfrm>
          <a:prstGeom prst="ellipse">
            <a:avLst/>
          </a:prstGeom>
          <a:solidFill>
            <a:schemeClr val="tx1"/>
          </a:solidFill>
          <a:ln/>
        </p:spPr>
        <p:txBody>
          <a:bodyPr/>
          <a:lstStyle/>
          <a:p>
            <a:endParaRPr lang="en-US"/>
          </a:p>
        </p:txBody>
      </p:sp>
      <p:sp>
        <p:nvSpPr>
          <p:cNvPr id="17" name="Punt 1"/>
          <p:cNvSpPr/>
          <p:nvPr/>
        </p:nvSpPr>
        <p:spPr>
          <a:xfrm>
            <a:off x="6675120" y="1828800"/>
            <a:ext cx="4846320" cy="1234440"/>
          </a:xfrm>
          <a:prstGeom prst="roundRect">
            <a:avLst>
              <a:gd name="adj" fmla="val 8889"/>
            </a:avLst>
          </a:prstGeom>
          <a:solidFill>
            <a:schemeClr val="bg2"/>
          </a:solidFill>
          <a:ln/>
        </p:spPr>
        <p:txBody>
          <a:bodyPr/>
          <a:lstStyle/>
          <a:p>
            <a:endParaRPr lang="en-US"/>
          </a:p>
        </p:txBody>
      </p:sp>
      <p:sp>
        <p:nvSpPr>
          <p:cNvPr id="18" name="Text 16"/>
          <p:cNvSpPr txBox="1"/>
          <p:nvPr/>
        </p:nvSpPr>
        <p:spPr>
          <a:xfrm>
            <a:off x="6949440" y="2011680"/>
            <a:ext cx="4389120" cy="411480"/>
          </a:xfrm>
          <a:prstGeom prst="rect">
            <a:avLst/>
          </a:prstGeom>
          <a:noFill/>
          <a:ln/>
        </p:spPr>
        <p:txBody>
          <a:bodyPr wrap="square" lIns="0" tIns="0" rIns="0" bIns="0" rtlCol="0" anchor="t"/>
          <a:lstStyle/>
          <a:p>
            <a:pPr marL="0" indent="0">
              <a:buNone/>
            </a:pPr>
            <a:r>
              <a:rPr lang="en-US" sz="1800" b="1" dirty="0">
                <a:solidFill>
                  <a:schemeClr val="tx1"/>
                </a:solidFill>
              </a:rPr>
              <a:t>De wetenschap kijkt terug tot de oerknal</a:t>
            </a:r>
            <a:endParaRPr lang="en-US" sz="1800" dirty="0"/>
          </a:p>
        </p:txBody>
      </p:sp>
      <p:sp>
        <p:nvSpPr>
          <p:cNvPr id="19" name="Text 17"/>
          <p:cNvSpPr txBox="1"/>
          <p:nvPr/>
        </p:nvSpPr>
        <p:spPr>
          <a:xfrm>
            <a:off x="6949440" y="2450592"/>
            <a:ext cx="4389120" cy="502920"/>
          </a:xfrm>
          <a:prstGeom prst="rect">
            <a:avLst/>
          </a:prstGeom>
          <a:noFill/>
          <a:ln/>
        </p:spPr>
        <p:txBody>
          <a:bodyPr wrap="square" lIns="0" tIns="0" rIns="0" bIns="0" rtlCol="0" anchor="t"/>
          <a:lstStyle/>
          <a:p>
            <a:pPr marL="0" indent="0">
              <a:buNone/>
            </a:pPr>
            <a:r>
              <a:rPr lang="en-US" sz="1500" dirty="0">
                <a:solidFill>
                  <a:schemeClr val="tx2"/>
                </a:solidFill>
              </a:rPr>
              <a:t>Geen mens ziet dat alleen.</a:t>
            </a:r>
            <a:endParaRPr lang="en-US" sz="1500" dirty="0"/>
          </a:p>
        </p:txBody>
      </p:sp>
      <p:sp>
        <p:nvSpPr>
          <p:cNvPr id="20" name="Punt 2"/>
          <p:cNvSpPr/>
          <p:nvPr/>
        </p:nvSpPr>
        <p:spPr>
          <a:xfrm>
            <a:off x="6675120" y="3246120"/>
            <a:ext cx="4846320" cy="1234440"/>
          </a:xfrm>
          <a:prstGeom prst="roundRect">
            <a:avLst>
              <a:gd name="adj" fmla="val 8889"/>
            </a:avLst>
          </a:prstGeom>
          <a:solidFill>
            <a:schemeClr val="bg2"/>
          </a:solidFill>
          <a:ln/>
        </p:spPr>
        <p:txBody>
          <a:bodyPr/>
          <a:lstStyle/>
          <a:p>
            <a:endParaRPr lang="en-US"/>
          </a:p>
        </p:txBody>
      </p:sp>
      <p:sp>
        <p:nvSpPr>
          <p:cNvPr id="21" name="Text 19"/>
          <p:cNvSpPr txBox="1"/>
          <p:nvPr/>
        </p:nvSpPr>
        <p:spPr>
          <a:xfrm>
            <a:off x="6949440" y="3429000"/>
            <a:ext cx="4389120" cy="411480"/>
          </a:xfrm>
          <a:prstGeom prst="rect">
            <a:avLst/>
          </a:prstGeom>
          <a:noFill/>
          <a:ln/>
        </p:spPr>
        <p:txBody>
          <a:bodyPr wrap="square" lIns="0" tIns="0" rIns="0" bIns="0" rtlCol="0" anchor="t"/>
          <a:lstStyle/>
          <a:p>
            <a:pPr marL="0" indent="0">
              <a:buNone/>
            </a:pPr>
            <a:r>
              <a:rPr lang="en-US" sz="1800" b="1" dirty="0">
                <a:solidFill>
                  <a:schemeClr val="tx1"/>
                </a:solidFill>
              </a:rPr>
              <a:t>Klimaatmodellen: een eeuw vooruit</a:t>
            </a:r>
            <a:endParaRPr lang="en-US" sz="1800" dirty="0"/>
          </a:p>
        </p:txBody>
      </p:sp>
      <p:sp>
        <p:nvSpPr>
          <p:cNvPr id="22" name="Text 20"/>
          <p:cNvSpPr txBox="1"/>
          <p:nvPr/>
        </p:nvSpPr>
        <p:spPr>
          <a:xfrm>
            <a:off x="6949440" y="3867912"/>
            <a:ext cx="4389120" cy="502920"/>
          </a:xfrm>
          <a:prstGeom prst="rect">
            <a:avLst/>
          </a:prstGeom>
          <a:noFill/>
          <a:ln/>
        </p:spPr>
        <p:txBody>
          <a:bodyPr wrap="square" lIns="0" tIns="0" rIns="0" bIns="0" rtlCol="0" anchor="t"/>
          <a:lstStyle/>
          <a:p>
            <a:pPr marL="0" indent="0">
              <a:buNone/>
            </a:pPr>
            <a:r>
              <a:rPr lang="en-US" sz="1500" dirty="0">
                <a:solidFill>
                  <a:schemeClr val="tx2"/>
                </a:solidFill>
              </a:rPr>
              <a:t>Gebouwd uit het werk van duizenden mensen.</a:t>
            </a:r>
            <a:endParaRPr lang="en-US" sz="1500" dirty="0"/>
          </a:p>
        </p:txBody>
      </p:sp>
      <p:sp>
        <p:nvSpPr>
          <p:cNvPr id="23" name="Punt 3"/>
          <p:cNvSpPr/>
          <p:nvPr/>
        </p:nvSpPr>
        <p:spPr>
          <a:xfrm>
            <a:off x="6675120" y="4663440"/>
            <a:ext cx="4846320" cy="1234440"/>
          </a:xfrm>
          <a:prstGeom prst="roundRect">
            <a:avLst>
              <a:gd name="adj" fmla="val 8889"/>
            </a:avLst>
          </a:prstGeom>
          <a:solidFill>
            <a:schemeClr val="accent3">
              <a:alpha val="12000"/>
            </a:schemeClr>
          </a:solidFill>
          <a:ln/>
        </p:spPr>
        <p:txBody>
          <a:bodyPr/>
          <a:lstStyle/>
          <a:p>
            <a:endParaRPr lang="en-US"/>
          </a:p>
        </p:txBody>
      </p:sp>
      <p:sp>
        <p:nvSpPr>
          <p:cNvPr id="24" name="Text 22"/>
          <p:cNvSpPr txBox="1"/>
          <p:nvPr/>
        </p:nvSpPr>
        <p:spPr>
          <a:xfrm>
            <a:off x="6949440" y="4846320"/>
            <a:ext cx="4389120" cy="411480"/>
          </a:xfrm>
          <a:prstGeom prst="rect">
            <a:avLst/>
          </a:prstGeom>
          <a:noFill/>
          <a:ln/>
        </p:spPr>
        <p:txBody>
          <a:bodyPr wrap="square" lIns="0" tIns="0" rIns="0" bIns="0" rtlCol="0" anchor="t"/>
          <a:lstStyle/>
          <a:p>
            <a:pPr marL="0" indent="0">
              <a:buNone/>
            </a:pPr>
            <a:r>
              <a:rPr lang="en-US" sz="1800" b="1" dirty="0">
                <a:solidFill>
                  <a:schemeClr val="accent3"/>
                </a:solidFill>
              </a:rPr>
              <a:t>Maar kegels tellen niet vanzelf op</a:t>
            </a:r>
            <a:endParaRPr lang="en-US" sz="1800" dirty="0"/>
          </a:p>
        </p:txBody>
      </p:sp>
      <p:sp>
        <p:nvSpPr>
          <p:cNvPr id="25" name="Text 23"/>
          <p:cNvSpPr txBox="1"/>
          <p:nvPr/>
        </p:nvSpPr>
        <p:spPr>
          <a:xfrm>
            <a:off x="6949440" y="5285232"/>
            <a:ext cx="4389120" cy="502920"/>
          </a:xfrm>
          <a:prstGeom prst="rect">
            <a:avLst/>
          </a:prstGeom>
          <a:noFill/>
          <a:ln/>
        </p:spPr>
        <p:txBody>
          <a:bodyPr wrap="square" lIns="0" tIns="0" rIns="0" bIns="0" rtlCol="0" anchor="t"/>
          <a:lstStyle/>
          <a:p>
            <a:pPr marL="0" indent="0">
              <a:buNone/>
            </a:pPr>
            <a:r>
              <a:rPr lang="en-US" sz="1500" dirty="0">
                <a:solidFill>
                  <a:schemeClr val="tx2"/>
                </a:solidFill>
              </a:rPr>
              <a:t>Tien mensen die dezelfde bron napraten, zien samen één ding.</a:t>
            </a:r>
            <a:endParaRPr lang="en-US" sz="1500" dirty="0"/>
          </a:p>
        </p:txBody>
      </p:sp>
      <p:sp>
        <p:nvSpPr>
          <p:cNvPr id="26"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SEATTLE, 1962</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Wie mag er blijven leven?</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Dialyse was net uitgevonden. Er waren veel te weinig machines.</a:t>
            </a:r>
            <a:endParaRPr lang="en-US" sz="1500" dirty="0"/>
          </a:p>
        </p:txBody>
      </p:sp>
      <p:sp>
        <p:nvSpPr>
          <p:cNvPr id="5" name="Commissie"/>
          <p:cNvSpPr/>
          <p:nvPr/>
        </p:nvSpPr>
        <p:spPr>
          <a:xfrm>
            <a:off x="667512" y="1783080"/>
            <a:ext cx="3291840" cy="3383280"/>
          </a:xfrm>
          <a:prstGeom prst="roundRect">
            <a:avLst>
              <a:gd name="adj" fmla="val 3333"/>
            </a:avLst>
          </a:prstGeom>
          <a:solidFill>
            <a:schemeClr val="bg2"/>
          </a:solidFill>
          <a:ln/>
        </p:spPr>
        <p:txBody>
          <a:bodyPr/>
          <a:lstStyle/>
          <a:p>
            <a:endParaRPr lang="en-US"/>
          </a:p>
        </p:txBody>
      </p:sp>
      <p:sp>
        <p:nvSpPr>
          <p:cNvPr id="6" name="Text 4"/>
          <p:cNvSpPr txBox="1"/>
          <p:nvPr/>
        </p:nvSpPr>
        <p:spPr>
          <a:xfrm>
            <a:off x="987552" y="1920240"/>
            <a:ext cx="2743200" cy="1280160"/>
          </a:xfrm>
          <a:prstGeom prst="rect">
            <a:avLst/>
          </a:prstGeom>
          <a:noFill/>
          <a:ln/>
        </p:spPr>
        <p:txBody>
          <a:bodyPr wrap="square" lIns="0" tIns="0" rIns="0" bIns="0" rtlCol="0" anchor="t"/>
          <a:lstStyle/>
          <a:p>
            <a:pPr marL="0" indent="0">
              <a:buNone/>
            </a:pPr>
            <a:r>
              <a:rPr lang="en-US" sz="9600" b="1" dirty="0">
                <a:solidFill>
                  <a:schemeClr val="accent3"/>
                </a:solidFill>
              </a:rPr>
              <a:t>7</a:t>
            </a:r>
            <a:endParaRPr lang="en-US" sz="9600" dirty="0"/>
          </a:p>
        </p:txBody>
      </p:sp>
      <p:sp>
        <p:nvSpPr>
          <p:cNvPr id="7" name="Text 5"/>
          <p:cNvSpPr txBox="1"/>
          <p:nvPr/>
        </p:nvSpPr>
        <p:spPr>
          <a:xfrm>
            <a:off x="987552" y="3246120"/>
            <a:ext cx="2743200" cy="1737360"/>
          </a:xfrm>
          <a:prstGeom prst="rect">
            <a:avLst/>
          </a:prstGeom>
          <a:noFill/>
          <a:ln/>
        </p:spPr>
        <p:txBody>
          <a:bodyPr wrap="square" lIns="0" tIns="0" rIns="0" bIns="0" rtlCol="0" anchor="t"/>
          <a:lstStyle/>
          <a:p>
            <a:pPr marL="0" indent="0">
              <a:buNone/>
            </a:pPr>
            <a:r>
              <a:rPr lang="en-US" sz="1600" dirty="0">
                <a:solidFill>
                  <a:schemeClr val="tx1"/>
                </a:solidFill>
              </a:rPr>
              <a:t>burgers besloten wie behandeld werd: o.a. een jurist, een dominee, een bankier en een huisvrouw</a:t>
            </a:r>
            <a:endParaRPr lang="en-US" sz="1600" dirty="0"/>
          </a:p>
        </p:txBody>
      </p:sp>
      <p:sp>
        <p:nvSpPr>
          <p:cNvPr id="8" name="Criteria"/>
          <p:cNvSpPr/>
          <p:nvPr/>
        </p:nvSpPr>
        <p:spPr>
          <a:xfrm>
            <a:off x="4251960" y="1783080"/>
            <a:ext cx="3383280" cy="3383280"/>
          </a:xfrm>
          <a:prstGeom prst="roundRect">
            <a:avLst>
              <a:gd name="adj" fmla="val 3243"/>
            </a:avLst>
          </a:prstGeom>
          <a:solidFill>
            <a:schemeClr val="bg2"/>
          </a:solidFill>
          <a:ln/>
        </p:spPr>
        <p:txBody>
          <a:bodyPr/>
          <a:lstStyle/>
          <a:p>
            <a:endParaRPr lang="en-US"/>
          </a:p>
        </p:txBody>
      </p:sp>
      <p:sp>
        <p:nvSpPr>
          <p:cNvPr id="9" name="Text 7"/>
          <p:cNvSpPr txBox="1"/>
          <p:nvPr/>
        </p:nvSpPr>
        <p:spPr>
          <a:xfrm>
            <a:off x="4572000" y="2011680"/>
            <a:ext cx="2834640" cy="411480"/>
          </a:xfrm>
          <a:prstGeom prst="rect">
            <a:avLst/>
          </a:prstGeom>
          <a:noFill/>
          <a:ln/>
        </p:spPr>
        <p:txBody>
          <a:bodyPr wrap="square" lIns="0" tIns="0" rIns="0" bIns="0" rtlCol="0" anchor="t"/>
          <a:lstStyle/>
          <a:p>
            <a:pPr marL="0" indent="0">
              <a:buNone/>
            </a:pPr>
            <a:r>
              <a:rPr lang="en-US" sz="1800" b="1" dirty="0">
                <a:solidFill>
                  <a:schemeClr val="tx1"/>
                </a:solidFill>
              </a:rPr>
              <a:t>Zij wogen onder meer</a:t>
            </a:r>
            <a:endParaRPr lang="en-US" sz="1800" dirty="0"/>
          </a:p>
        </p:txBody>
      </p:sp>
      <p:sp>
        <p:nvSpPr>
          <p:cNvPr id="10" name="Text 8"/>
          <p:cNvSpPr txBox="1"/>
          <p:nvPr/>
        </p:nvSpPr>
        <p:spPr>
          <a:xfrm>
            <a:off x="4572000" y="2560320"/>
            <a:ext cx="28346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leeftijd</a:t>
            </a:r>
            <a:endParaRPr lang="en-US" sz="1600" dirty="0"/>
          </a:p>
          <a:p>
            <a:pPr marL="342900" indent="-342900">
              <a:spcAft>
                <a:spcPts val="600"/>
              </a:spcAft>
              <a:buSzPct val="100000"/>
              <a:buChar char="•"/>
            </a:pPr>
            <a:r>
              <a:rPr lang="en-US" sz="1600" dirty="0">
                <a:solidFill>
                  <a:schemeClr val="tx1"/>
                </a:solidFill>
              </a:rPr>
              <a:t>een baan</a:t>
            </a:r>
            <a:endParaRPr lang="en-US" sz="1600" dirty="0"/>
          </a:p>
          <a:p>
            <a:pPr marL="342900" indent="-342900">
              <a:spcAft>
                <a:spcPts val="600"/>
              </a:spcAft>
              <a:buSzPct val="100000"/>
              <a:buChar char="•"/>
            </a:pPr>
            <a:r>
              <a:rPr lang="en-US" sz="1600" dirty="0">
                <a:solidFill>
                  <a:schemeClr val="tx1"/>
                </a:solidFill>
              </a:rPr>
              <a:t>kinderen</a:t>
            </a:r>
            <a:endParaRPr lang="en-US" sz="1600" dirty="0"/>
          </a:p>
          <a:p>
            <a:pPr marL="342900" indent="-342900">
              <a:spcAft>
                <a:spcPts val="600"/>
              </a:spcAft>
              <a:buSzPct val="100000"/>
              <a:buChar char="•"/>
            </a:pPr>
            <a:r>
              <a:rPr lang="en-US" sz="1600" dirty="0">
                <a:solidFill>
                  <a:schemeClr val="tx1"/>
                </a:solidFill>
              </a:rPr>
              <a:t>opleiding en 'prestaties'</a:t>
            </a:r>
            <a:endParaRPr lang="en-US" sz="1600" dirty="0"/>
          </a:p>
          <a:p>
            <a:pPr marL="342900" indent="-342900">
              <a:spcAft>
                <a:spcPts val="600"/>
              </a:spcAft>
              <a:buSzPct val="100000"/>
              <a:buChar char="•"/>
            </a:pPr>
            <a:r>
              <a:rPr lang="en-US" sz="1600" dirty="0">
                <a:solidFill>
                  <a:schemeClr val="tx1"/>
                </a:solidFill>
              </a:rPr>
              <a:t>wat iemand voor anderen kon betekenen</a:t>
            </a:r>
            <a:endParaRPr lang="en-US" sz="1600" dirty="0"/>
          </a:p>
        </p:txBody>
      </p:sp>
      <p:sp>
        <p:nvSpPr>
          <p:cNvPr id="11" name="Life"/>
          <p:cNvSpPr/>
          <p:nvPr/>
        </p:nvSpPr>
        <p:spPr>
          <a:xfrm>
            <a:off x="7909560" y="1783080"/>
            <a:ext cx="3611880" cy="3383280"/>
          </a:xfrm>
          <a:prstGeom prst="roundRect">
            <a:avLst>
              <a:gd name="adj" fmla="val 3243"/>
            </a:avLst>
          </a:prstGeom>
          <a:solidFill>
            <a:schemeClr val="tx1"/>
          </a:solidFill>
          <a:ln/>
        </p:spPr>
        <p:txBody>
          <a:bodyPr/>
          <a:lstStyle/>
          <a:p>
            <a:endParaRPr lang="en-US"/>
          </a:p>
        </p:txBody>
      </p:sp>
      <p:sp>
        <p:nvSpPr>
          <p:cNvPr id="12" name="Text 10"/>
          <p:cNvSpPr txBox="1"/>
          <p:nvPr/>
        </p:nvSpPr>
        <p:spPr>
          <a:xfrm>
            <a:off x="8229600" y="2103120"/>
            <a:ext cx="3017520" cy="1737360"/>
          </a:xfrm>
          <a:prstGeom prst="rect">
            <a:avLst/>
          </a:prstGeom>
          <a:noFill/>
          <a:ln/>
        </p:spPr>
        <p:txBody>
          <a:bodyPr wrap="square" lIns="0" tIns="0" rIns="0" bIns="0" rtlCol="0" anchor="t"/>
          <a:lstStyle/>
          <a:p>
            <a:pPr marL="0" indent="0">
              <a:buNone/>
            </a:pPr>
            <a:r>
              <a:rPr lang="en-US" sz="2400" b="1" i="1" dirty="0">
                <a:solidFill>
                  <a:schemeClr val="bg1"/>
                </a:solidFill>
              </a:rPr>
              <a:t>“They Decide Who Lives, Who Dies”</a:t>
            </a:r>
            <a:endParaRPr lang="en-US" sz="2400" dirty="0"/>
          </a:p>
        </p:txBody>
      </p:sp>
      <p:sp>
        <p:nvSpPr>
          <p:cNvPr id="13" name="Text 11"/>
          <p:cNvSpPr txBox="1"/>
          <p:nvPr/>
        </p:nvSpPr>
        <p:spPr>
          <a:xfrm>
            <a:off x="8229600" y="4069080"/>
            <a:ext cx="3017520" cy="822960"/>
          </a:xfrm>
          <a:prstGeom prst="rect">
            <a:avLst/>
          </a:prstGeom>
          <a:noFill/>
          <a:ln/>
        </p:spPr>
        <p:txBody>
          <a:bodyPr wrap="square" lIns="0" tIns="0" rIns="0" bIns="0" rtlCol="0" anchor="t"/>
          <a:lstStyle/>
          <a:p>
            <a:pPr marL="0" indent="0">
              <a:buNone/>
            </a:pPr>
            <a:r>
              <a:rPr lang="en-US" sz="1400" dirty="0">
                <a:solidFill>
                  <a:schemeClr val="bg2"/>
                </a:solidFill>
              </a:rPr>
              <a:t>Life, november 1962. Daarna bekend als de ‘God committee’.</a:t>
            </a:r>
            <a:endParaRPr lang="en-US" sz="1400" dirty="0"/>
          </a:p>
        </p:txBody>
      </p:sp>
      <p:sp>
        <p:nvSpPr>
          <p:cNvPr id="14" name="Les"/>
          <p:cNvSpPr/>
          <p:nvPr/>
        </p:nvSpPr>
        <p:spPr>
          <a:xfrm>
            <a:off x="667512" y="5394960"/>
            <a:ext cx="10856671" cy="685800"/>
          </a:xfrm>
          <a:prstGeom prst="roundRect">
            <a:avLst>
              <a:gd name="adj" fmla="val 16000"/>
            </a:avLst>
          </a:prstGeom>
          <a:solidFill>
            <a:schemeClr val="accent3">
              <a:alpha val="12000"/>
            </a:schemeClr>
          </a:solidFill>
          <a:ln/>
        </p:spPr>
        <p:txBody>
          <a:bodyPr/>
          <a:lstStyle/>
          <a:p>
            <a:endParaRPr lang="en-US"/>
          </a:p>
        </p:txBody>
      </p:sp>
      <p:sp>
        <p:nvSpPr>
          <p:cNvPr id="15" name="Text 13"/>
          <p:cNvSpPr txBox="1"/>
          <p:nvPr/>
        </p:nvSpPr>
        <p:spPr>
          <a:xfrm>
            <a:off x="941832" y="5394960"/>
            <a:ext cx="10442448" cy="685800"/>
          </a:xfrm>
          <a:prstGeom prst="rect">
            <a:avLst/>
          </a:prstGeom>
          <a:noFill/>
          <a:ln/>
        </p:spPr>
        <p:txBody>
          <a:bodyPr wrap="square" lIns="0" tIns="0" rIns="0" bIns="0" rtlCol="0" anchor="ctr"/>
          <a:lstStyle/>
          <a:p>
            <a:pPr marL="0" indent="0">
              <a:buNone/>
            </a:pPr>
            <a:r>
              <a:rPr lang="en-US" sz="1700" b="1" dirty="0">
                <a:solidFill>
                  <a:schemeClr val="tx1"/>
                </a:solidFill>
              </a:rPr>
              <a:t>Een </a:t>
            </a:r>
            <a:r>
              <a:rPr lang="en-US" sz="1700" b="1" dirty="0" err="1">
                <a:solidFill>
                  <a:schemeClr val="tx1"/>
                </a:solidFill>
              </a:rPr>
              <a:t>paar</a:t>
            </a:r>
            <a:r>
              <a:rPr lang="en-US" sz="1700" b="1" dirty="0">
                <a:solidFill>
                  <a:schemeClr val="tx1"/>
                </a:solidFill>
              </a:rPr>
              <a:t> </a:t>
            </a:r>
            <a:r>
              <a:rPr lang="en-US" sz="1700" b="1" dirty="0" err="1">
                <a:solidFill>
                  <a:schemeClr val="tx1"/>
                </a:solidFill>
              </a:rPr>
              <a:t>mensen</a:t>
            </a:r>
            <a:r>
              <a:rPr lang="en-US" sz="1700" b="1" dirty="0">
                <a:solidFill>
                  <a:schemeClr val="tx1"/>
                </a:solidFill>
              </a:rPr>
              <a:t> die beslissen, met criteria die niemand kon controleren: hoeveel is iemand waard?</a:t>
            </a:r>
            <a:endParaRPr lang="en-US" sz="1700" dirty="0"/>
          </a:p>
        </p:txBody>
      </p:sp>
      <p:sp>
        <p:nvSpPr>
          <p:cNvPr id="16" name="Bron"/>
          <p:cNvSpPr txBox="1"/>
          <p:nvPr/>
        </p:nvSpPr>
        <p:spPr>
          <a:xfrm>
            <a:off x="667512" y="6327648"/>
            <a:ext cx="10424160" cy="292608"/>
          </a:xfrm>
          <a:prstGeom prst="rect">
            <a:avLst/>
          </a:prstGeom>
          <a:noFill/>
          <a:ln/>
        </p:spPr>
        <p:txBody>
          <a:bodyPr wrap="square" lIns="0" tIns="0" rIns="0" bIns="0" rtlCol="0" anchor="t"/>
          <a:lstStyle/>
          <a:p>
            <a:pPr marL="0" indent="0">
              <a:buNone/>
            </a:pPr>
            <a:r>
              <a:rPr lang="en-US" sz="1000" dirty="0">
                <a:solidFill>
                  <a:schemeClr val="tx2"/>
                </a:solidFill>
              </a:rPr>
              <a:t>Bronnen: Alexander, S. (1962). They Decide Who Lives, Who Dies. Life, 9 november 1962; Health Affairs Forefront, ‘The Seattle God Committee: a cautionary tale’.</a:t>
            </a:r>
            <a:endParaRPr lang="en-US" sz="10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HET ANTWOORD</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Maak keuzes expliciet en controleerbaar</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Een halve eeuw werken aan eerlijk kiezen in de zorg</a:t>
            </a:r>
            <a:endParaRPr lang="en-US" sz="1500" dirty="0"/>
          </a:p>
        </p:txBody>
      </p:sp>
      <p:sp>
        <p:nvSpPr>
          <p:cNvPr id="5" name="Tijdlijn"/>
          <p:cNvSpPr/>
          <p:nvPr/>
        </p:nvSpPr>
        <p:spPr>
          <a:xfrm>
            <a:off x="1572235" y="2880360"/>
            <a:ext cx="9047226" cy="0"/>
          </a:xfrm>
          <a:prstGeom prst="line">
            <a:avLst/>
          </a:prstGeom>
          <a:noFill/>
          <a:ln w="19050">
            <a:solidFill>
              <a:srgbClr val="556675"/>
            </a:solidFill>
            <a:prstDash val="solid"/>
          </a:ln>
        </p:spPr>
        <p:txBody>
          <a:bodyPr/>
          <a:lstStyle/>
          <a:p>
            <a:endParaRPr lang="en-US"/>
          </a:p>
        </p:txBody>
      </p:sp>
      <p:sp>
        <p:nvSpPr>
          <p:cNvPr id="6" name="Moment 1962"/>
          <p:cNvSpPr/>
          <p:nvPr/>
        </p:nvSpPr>
        <p:spPr>
          <a:xfrm>
            <a:off x="1416787" y="2724912"/>
            <a:ext cx="310896" cy="310896"/>
          </a:xfrm>
          <a:prstGeom prst="ellipse">
            <a:avLst/>
          </a:prstGeom>
          <a:solidFill>
            <a:schemeClr val="accent3"/>
          </a:solidFill>
          <a:ln/>
        </p:spPr>
        <p:txBody>
          <a:bodyPr/>
          <a:lstStyle/>
          <a:p>
            <a:endParaRPr lang="en-US"/>
          </a:p>
        </p:txBody>
      </p:sp>
      <p:sp>
        <p:nvSpPr>
          <p:cNvPr id="7" name="Text 5"/>
          <p:cNvSpPr txBox="1"/>
          <p:nvPr/>
        </p:nvSpPr>
        <p:spPr>
          <a:xfrm>
            <a:off x="713232" y="1965960"/>
            <a:ext cx="1718005" cy="548640"/>
          </a:xfrm>
          <a:prstGeom prst="rect">
            <a:avLst/>
          </a:prstGeom>
          <a:noFill/>
          <a:ln/>
        </p:spPr>
        <p:txBody>
          <a:bodyPr wrap="square" lIns="0" tIns="0" rIns="0" bIns="0" rtlCol="0" anchor="t"/>
          <a:lstStyle/>
          <a:p>
            <a:pPr marL="0" indent="0" algn="ctr">
              <a:buNone/>
            </a:pPr>
            <a:r>
              <a:rPr lang="en-US" sz="2800" b="1" dirty="0">
                <a:solidFill>
                  <a:schemeClr val="accent3"/>
                </a:solidFill>
              </a:rPr>
              <a:t>1962</a:t>
            </a:r>
            <a:endParaRPr lang="en-US" sz="2800" dirty="0"/>
          </a:p>
        </p:txBody>
      </p:sp>
      <p:sp>
        <p:nvSpPr>
          <p:cNvPr id="8" name="Text 6"/>
          <p:cNvSpPr txBox="1"/>
          <p:nvPr/>
        </p:nvSpPr>
        <p:spPr>
          <a:xfrm>
            <a:off x="740664" y="3246120"/>
            <a:ext cx="1663141" cy="365760"/>
          </a:xfrm>
          <a:prstGeom prst="rect">
            <a:avLst/>
          </a:prstGeom>
          <a:noFill/>
          <a:ln/>
        </p:spPr>
        <p:txBody>
          <a:bodyPr wrap="square" lIns="0" tIns="0" rIns="0" bIns="0" rtlCol="0" anchor="t"/>
          <a:lstStyle/>
          <a:p>
            <a:pPr marL="0" indent="0" algn="ctr">
              <a:buNone/>
            </a:pPr>
            <a:r>
              <a:rPr lang="en-US" sz="1600" b="1" dirty="0">
                <a:solidFill>
                  <a:schemeClr val="tx1"/>
                </a:solidFill>
              </a:rPr>
              <a:t>Seattle</a:t>
            </a:r>
            <a:endParaRPr lang="en-US" sz="1600" dirty="0"/>
          </a:p>
        </p:txBody>
      </p:sp>
      <p:sp>
        <p:nvSpPr>
          <p:cNvPr id="9" name="Text 7"/>
          <p:cNvSpPr txBox="1"/>
          <p:nvPr/>
        </p:nvSpPr>
        <p:spPr>
          <a:xfrm>
            <a:off x="740664" y="3657600"/>
            <a:ext cx="1663141" cy="1188720"/>
          </a:xfrm>
          <a:prstGeom prst="rect">
            <a:avLst/>
          </a:prstGeom>
          <a:noFill/>
          <a:ln/>
        </p:spPr>
        <p:txBody>
          <a:bodyPr wrap="square" lIns="0" tIns="0" rIns="0" bIns="0" rtlCol="0" anchor="t"/>
          <a:lstStyle/>
          <a:p>
            <a:pPr marL="0" indent="0" algn="ctr">
              <a:buNone/>
            </a:pPr>
            <a:r>
              <a:rPr lang="en-US" sz="1400" dirty="0">
                <a:solidFill>
                  <a:schemeClr val="tx2"/>
                </a:solidFill>
              </a:rPr>
              <a:t>Wie mag leven? Een commissie beslist.</a:t>
            </a:r>
            <a:endParaRPr lang="en-US" sz="1400" dirty="0"/>
          </a:p>
        </p:txBody>
      </p:sp>
      <p:sp>
        <p:nvSpPr>
          <p:cNvPr id="10" name="Moment 1968"/>
          <p:cNvSpPr/>
          <p:nvPr/>
        </p:nvSpPr>
        <p:spPr>
          <a:xfrm>
            <a:off x="3226232" y="2724912"/>
            <a:ext cx="310896" cy="310896"/>
          </a:xfrm>
          <a:prstGeom prst="ellipse">
            <a:avLst/>
          </a:prstGeom>
          <a:solidFill>
            <a:schemeClr val="accent1"/>
          </a:solidFill>
          <a:ln/>
        </p:spPr>
        <p:txBody>
          <a:bodyPr/>
          <a:lstStyle/>
          <a:p>
            <a:endParaRPr lang="en-US"/>
          </a:p>
        </p:txBody>
      </p:sp>
      <p:sp>
        <p:nvSpPr>
          <p:cNvPr id="11" name="Text 9"/>
          <p:cNvSpPr txBox="1"/>
          <p:nvPr/>
        </p:nvSpPr>
        <p:spPr>
          <a:xfrm>
            <a:off x="2522677" y="1965960"/>
            <a:ext cx="1718005" cy="548640"/>
          </a:xfrm>
          <a:prstGeom prst="rect">
            <a:avLst/>
          </a:prstGeom>
          <a:noFill/>
          <a:ln/>
        </p:spPr>
        <p:txBody>
          <a:bodyPr wrap="square" lIns="0" tIns="0" rIns="0" bIns="0" rtlCol="0" anchor="t"/>
          <a:lstStyle/>
          <a:p>
            <a:pPr marL="0" indent="0" algn="ctr">
              <a:buNone/>
            </a:pPr>
            <a:r>
              <a:rPr lang="en-US" sz="2800" b="1" dirty="0">
                <a:solidFill>
                  <a:schemeClr val="accent1"/>
                </a:solidFill>
              </a:rPr>
              <a:t>1968</a:t>
            </a:r>
            <a:endParaRPr lang="en-US" sz="2800" dirty="0"/>
          </a:p>
        </p:txBody>
      </p:sp>
      <p:sp>
        <p:nvSpPr>
          <p:cNvPr id="12" name="Text 10"/>
          <p:cNvSpPr txBox="1"/>
          <p:nvPr/>
        </p:nvSpPr>
        <p:spPr>
          <a:xfrm>
            <a:off x="2550109" y="3246120"/>
            <a:ext cx="1663141" cy="365760"/>
          </a:xfrm>
          <a:prstGeom prst="rect">
            <a:avLst/>
          </a:prstGeom>
          <a:noFill/>
          <a:ln/>
        </p:spPr>
        <p:txBody>
          <a:bodyPr wrap="square" lIns="0" tIns="0" rIns="0" bIns="0" rtlCol="0" anchor="t"/>
          <a:lstStyle/>
          <a:p>
            <a:pPr marL="0" indent="0" algn="ctr">
              <a:buNone/>
            </a:pPr>
            <a:r>
              <a:rPr lang="en-US" sz="1600" b="1" dirty="0">
                <a:solidFill>
                  <a:schemeClr val="tx1"/>
                </a:solidFill>
              </a:rPr>
              <a:t>Klarman e.a.</a:t>
            </a:r>
            <a:endParaRPr lang="en-US" sz="1600" dirty="0"/>
          </a:p>
        </p:txBody>
      </p:sp>
      <p:sp>
        <p:nvSpPr>
          <p:cNvPr id="13" name="Text 11"/>
          <p:cNvSpPr txBox="1"/>
          <p:nvPr/>
        </p:nvSpPr>
        <p:spPr>
          <a:xfrm>
            <a:off x="2550109" y="3657600"/>
            <a:ext cx="1663141" cy="1188720"/>
          </a:xfrm>
          <a:prstGeom prst="rect">
            <a:avLst/>
          </a:prstGeom>
          <a:noFill/>
          <a:ln/>
        </p:spPr>
        <p:txBody>
          <a:bodyPr wrap="square" lIns="0" tIns="0" rIns="0" bIns="0" rtlCol="0" anchor="t"/>
          <a:lstStyle/>
          <a:p>
            <a:pPr marL="0" indent="0" algn="ctr">
              <a:buNone/>
            </a:pPr>
            <a:r>
              <a:rPr lang="en-US" sz="1400" dirty="0">
                <a:solidFill>
                  <a:schemeClr val="tx2"/>
                </a:solidFill>
              </a:rPr>
              <a:t>Levensjaren gecorrigeerd voor kwaliteit: het idee achter de QALY.</a:t>
            </a:r>
            <a:endParaRPr lang="en-US" sz="1400" dirty="0"/>
          </a:p>
        </p:txBody>
      </p:sp>
      <p:sp>
        <p:nvSpPr>
          <p:cNvPr id="14" name="Moment 1970"/>
          <p:cNvSpPr/>
          <p:nvPr/>
        </p:nvSpPr>
        <p:spPr>
          <a:xfrm>
            <a:off x="5035677" y="2724912"/>
            <a:ext cx="310896" cy="310896"/>
          </a:xfrm>
          <a:prstGeom prst="ellipse">
            <a:avLst/>
          </a:prstGeom>
          <a:solidFill>
            <a:schemeClr val="accent1"/>
          </a:solidFill>
          <a:ln/>
        </p:spPr>
        <p:txBody>
          <a:bodyPr/>
          <a:lstStyle/>
          <a:p>
            <a:endParaRPr lang="en-US"/>
          </a:p>
        </p:txBody>
      </p:sp>
      <p:sp>
        <p:nvSpPr>
          <p:cNvPr id="15" name="Text 13"/>
          <p:cNvSpPr txBox="1"/>
          <p:nvPr/>
        </p:nvSpPr>
        <p:spPr>
          <a:xfrm>
            <a:off x="4332122" y="1965960"/>
            <a:ext cx="1718005" cy="548640"/>
          </a:xfrm>
          <a:prstGeom prst="rect">
            <a:avLst/>
          </a:prstGeom>
          <a:noFill/>
          <a:ln/>
        </p:spPr>
        <p:txBody>
          <a:bodyPr wrap="square" lIns="0" tIns="0" rIns="0" bIns="0" rtlCol="0" anchor="t"/>
          <a:lstStyle/>
          <a:p>
            <a:pPr marL="0" indent="0" algn="ctr">
              <a:buNone/>
            </a:pPr>
            <a:r>
              <a:rPr lang="en-US" sz="2800" b="1" dirty="0">
                <a:solidFill>
                  <a:schemeClr val="accent1"/>
                </a:solidFill>
              </a:rPr>
              <a:t>1970</a:t>
            </a:r>
            <a:endParaRPr lang="en-US" sz="2800" dirty="0"/>
          </a:p>
        </p:txBody>
      </p:sp>
      <p:sp>
        <p:nvSpPr>
          <p:cNvPr id="16" name="Text 14"/>
          <p:cNvSpPr txBox="1"/>
          <p:nvPr/>
        </p:nvSpPr>
        <p:spPr>
          <a:xfrm>
            <a:off x="4359554" y="3246120"/>
            <a:ext cx="1663141" cy="365760"/>
          </a:xfrm>
          <a:prstGeom prst="rect">
            <a:avLst/>
          </a:prstGeom>
          <a:noFill/>
          <a:ln/>
        </p:spPr>
        <p:txBody>
          <a:bodyPr wrap="square" lIns="0" tIns="0" rIns="0" bIns="0" rtlCol="0" anchor="t"/>
          <a:lstStyle/>
          <a:p>
            <a:pPr marL="0" indent="0" algn="ctr">
              <a:buNone/>
            </a:pPr>
            <a:r>
              <a:rPr lang="en-US" sz="1600" b="1" dirty="0">
                <a:solidFill>
                  <a:schemeClr val="tx1"/>
                </a:solidFill>
              </a:rPr>
              <a:t>Torrance</a:t>
            </a:r>
            <a:endParaRPr lang="en-US" sz="1600" dirty="0"/>
          </a:p>
        </p:txBody>
      </p:sp>
      <p:sp>
        <p:nvSpPr>
          <p:cNvPr id="17" name="Text 15"/>
          <p:cNvSpPr txBox="1"/>
          <p:nvPr/>
        </p:nvSpPr>
        <p:spPr>
          <a:xfrm>
            <a:off x="4359554" y="3657600"/>
            <a:ext cx="1663141" cy="1188720"/>
          </a:xfrm>
          <a:prstGeom prst="rect">
            <a:avLst/>
          </a:prstGeom>
          <a:noFill/>
          <a:ln/>
        </p:spPr>
        <p:txBody>
          <a:bodyPr wrap="square" lIns="0" tIns="0" rIns="0" bIns="0" rtlCol="0" anchor="t"/>
          <a:lstStyle/>
          <a:p>
            <a:pPr marL="0" indent="0" algn="ctr">
              <a:buNone/>
            </a:pPr>
            <a:r>
              <a:rPr lang="en-US" sz="1400" dirty="0">
                <a:solidFill>
                  <a:schemeClr val="tx2"/>
                </a:solidFill>
              </a:rPr>
              <a:t>De time trade-off: mensen zelf laten wegen.</a:t>
            </a:r>
            <a:endParaRPr lang="en-US" sz="1400" dirty="0"/>
          </a:p>
        </p:txBody>
      </p:sp>
      <p:sp>
        <p:nvSpPr>
          <p:cNvPr id="18" name="Moment 1972"/>
          <p:cNvSpPr/>
          <p:nvPr/>
        </p:nvSpPr>
        <p:spPr>
          <a:xfrm>
            <a:off x="6845122" y="2724912"/>
            <a:ext cx="310896" cy="310896"/>
          </a:xfrm>
          <a:prstGeom prst="ellipse">
            <a:avLst/>
          </a:prstGeom>
          <a:solidFill>
            <a:schemeClr val="accent6"/>
          </a:solidFill>
          <a:ln/>
        </p:spPr>
        <p:txBody>
          <a:bodyPr/>
          <a:lstStyle/>
          <a:p>
            <a:endParaRPr lang="en-US"/>
          </a:p>
        </p:txBody>
      </p:sp>
      <p:sp>
        <p:nvSpPr>
          <p:cNvPr id="19" name="Text 17"/>
          <p:cNvSpPr txBox="1"/>
          <p:nvPr/>
        </p:nvSpPr>
        <p:spPr>
          <a:xfrm>
            <a:off x="6141568" y="1965960"/>
            <a:ext cx="1718005" cy="548640"/>
          </a:xfrm>
          <a:prstGeom prst="rect">
            <a:avLst/>
          </a:prstGeom>
          <a:noFill/>
          <a:ln/>
        </p:spPr>
        <p:txBody>
          <a:bodyPr wrap="square" lIns="0" tIns="0" rIns="0" bIns="0" rtlCol="0" anchor="t"/>
          <a:lstStyle/>
          <a:p>
            <a:pPr marL="0" indent="0" algn="ctr">
              <a:buNone/>
            </a:pPr>
            <a:r>
              <a:rPr lang="en-US" sz="2800" b="1" dirty="0">
                <a:solidFill>
                  <a:schemeClr val="accent6"/>
                </a:solidFill>
              </a:rPr>
              <a:t>1972</a:t>
            </a:r>
            <a:endParaRPr lang="en-US" sz="2800" dirty="0"/>
          </a:p>
        </p:txBody>
      </p:sp>
      <p:sp>
        <p:nvSpPr>
          <p:cNvPr id="20" name="Text 18"/>
          <p:cNvSpPr txBox="1"/>
          <p:nvPr/>
        </p:nvSpPr>
        <p:spPr>
          <a:xfrm>
            <a:off x="6169000" y="3246120"/>
            <a:ext cx="1663141" cy="365760"/>
          </a:xfrm>
          <a:prstGeom prst="rect">
            <a:avLst/>
          </a:prstGeom>
          <a:noFill/>
          <a:ln/>
        </p:spPr>
        <p:txBody>
          <a:bodyPr wrap="square" lIns="0" tIns="0" rIns="0" bIns="0" rtlCol="0" anchor="t"/>
          <a:lstStyle/>
          <a:p>
            <a:pPr marL="0" indent="0" algn="ctr">
              <a:buNone/>
            </a:pPr>
            <a:r>
              <a:rPr lang="en-US" sz="1600" b="1" dirty="0">
                <a:solidFill>
                  <a:schemeClr val="tx1"/>
                </a:solidFill>
              </a:rPr>
              <a:t>Cochrane</a:t>
            </a:r>
            <a:endParaRPr lang="en-US" sz="1600" dirty="0"/>
          </a:p>
        </p:txBody>
      </p:sp>
      <p:sp>
        <p:nvSpPr>
          <p:cNvPr id="21" name="Text 19"/>
          <p:cNvSpPr txBox="1"/>
          <p:nvPr/>
        </p:nvSpPr>
        <p:spPr>
          <a:xfrm>
            <a:off x="6169000" y="3657600"/>
            <a:ext cx="1663141" cy="1188720"/>
          </a:xfrm>
          <a:prstGeom prst="rect">
            <a:avLst/>
          </a:prstGeom>
          <a:noFill/>
          <a:ln/>
        </p:spPr>
        <p:txBody>
          <a:bodyPr wrap="square" lIns="0" tIns="0" rIns="0" bIns="0" rtlCol="0" anchor="t"/>
          <a:lstStyle/>
          <a:p>
            <a:pPr marL="0" indent="0" algn="ctr">
              <a:buNone/>
            </a:pPr>
            <a:r>
              <a:rPr lang="en-US" sz="1400" dirty="0">
                <a:solidFill>
                  <a:schemeClr val="tx2"/>
                </a:solidFill>
              </a:rPr>
              <a:t>Wat werkt? Bewijs uit gerandomiseerd onderzoek.</a:t>
            </a:r>
            <a:endParaRPr lang="en-US" sz="1400" dirty="0"/>
          </a:p>
        </p:txBody>
      </p:sp>
      <p:sp>
        <p:nvSpPr>
          <p:cNvPr id="22" name="Moment 1990"/>
          <p:cNvSpPr/>
          <p:nvPr/>
        </p:nvSpPr>
        <p:spPr>
          <a:xfrm>
            <a:off x="8654567" y="2724912"/>
            <a:ext cx="310896" cy="310896"/>
          </a:xfrm>
          <a:prstGeom prst="ellipse">
            <a:avLst/>
          </a:prstGeom>
          <a:solidFill>
            <a:schemeClr val="accent5"/>
          </a:solidFill>
          <a:ln/>
        </p:spPr>
        <p:txBody>
          <a:bodyPr/>
          <a:lstStyle/>
          <a:p>
            <a:endParaRPr lang="en-US"/>
          </a:p>
        </p:txBody>
      </p:sp>
      <p:sp>
        <p:nvSpPr>
          <p:cNvPr id="23" name="Text 21"/>
          <p:cNvSpPr txBox="1"/>
          <p:nvPr/>
        </p:nvSpPr>
        <p:spPr>
          <a:xfrm>
            <a:off x="7951013" y="1965960"/>
            <a:ext cx="1718005" cy="548640"/>
          </a:xfrm>
          <a:prstGeom prst="rect">
            <a:avLst/>
          </a:prstGeom>
          <a:noFill/>
          <a:ln/>
        </p:spPr>
        <p:txBody>
          <a:bodyPr wrap="square" lIns="0" tIns="0" rIns="0" bIns="0" rtlCol="0" anchor="t"/>
          <a:lstStyle/>
          <a:p>
            <a:pPr marL="0" indent="0" algn="ctr">
              <a:buNone/>
            </a:pPr>
            <a:r>
              <a:rPr lang="en-US" sz="2800" b="1" dirty="0">
                <a:solidFill>
                  <a:schemeClr val="accent5"/>
                </a:solidFill>
              </a:rPr>
              <a:t>1990</a:t>
            </a:r>
            <a:endParaRPr lang="en-US" sz="2800" dirty="0"/>
          </a:p>
        </p:txBody>
      </p:sp>
      <p:sp>
        <p:nvSpPr>
          <p:cNvPr id="24" name="Text 22"/>
          <p:cNvSpPr txBox="1"/>
          <p:nvPr/>
        </p:nvSpPr>
        <p:spPr>
          <a:xfrm>
            <a:off x="7978445" y="3246120"/>
            <a:ext cx="1663141" cy="365760"/>
          </a:xfrm>
          <a:prstGeom prst="rect">
            <a:avLst/>
          </a:prstGeom>
          <a:noFill/>
          <a:ln/>
        </p:spPr>
        <p:txBody>
          <a:bodyPr wrap="square" lIns="0" tIns="0" rIns="0" bIns="0" rtlCol="0" anchor="t"/>
          <a:lstStyle/>
          <a:p>
            <a:pPr marL="0" indent="0" algn="ctr">
              <a:buNone/>
            </a:pPr>
            <a:r>
              <a:rPr lang="en-US" sz="1600" b="1" dirty="0">
                <a:solidFill>
                  <a:schemeClr val="tx1"/>
                </a:solidFill>
              </a:rPr>
              <a:t>EuroQol</a:t>
            </a:r>
            <a:endParaRPr lang="en-US" sz="1600" dirty="0"/>
          </a:p>
        </p:txBody>
      </p:sp>
      <p:sp>
        <p:nvSpPr>
          <p:cNvPr id="25" name="Text 23"/>
          <p:cNvSpPr txBox="1"/>
          <p:nvPr/>
        </p:nvSpPr>
        <p:spPr>
          <a:xfrm>
            <a:off x="7978445" y="3657600"/>
            <a:ext cx="1663141" cy="1188720"/>
          </a:xfrm>
          <a:prstGeom prst="rect">
            <a:avLst/>
          </a:prstGeom>
          <a:noFill/>
          <a:ln/>
        </p:spPr>
        <p:txBody>
          <a:bodyPr wrap="square" lIns="0" tIns="0" rIns="0" bIns="0" rtlCol="0" anchor="t"/>
          <a:lstStyle/>
          <a:p>
            <a:pPr marL="0" indent="0" algn="ctr">
              <a:buNone/>
            </a:pPr>
            <a:r>
              <a:rPr lang="en-US" sz="1400" dirty="0">
                <a:solidFill>
                  <a:schemeClr val="tx2"/>
                </a:solidFill>
              </a:rPr>
              <a:t>De EQ-5D: gezondheid in vijf domeinen.</a:t>
            </a:r>
            <a:endParaRPr lang="en-US" sz="1400" dirty="0"/>
          </a:p>
        </p:txBody>
      </p:sp>
      <p:sp>
        <p:nvSpPr>
          <p:cNvPr id="26" name="Moment 2016"/>
          <p:cNvSpPr/>
          <p:nvPr/>
        </p:nvSpPr>
        <p:spPr>
          <a:xfrm>
            <a:off x="10464013" y="2724912"/>
            <a:ext cx="310896" cy="310896"/>
          </a:xfrm>
          <a:prstGeom prst="ellipse">
            <a:avLst/>
          </a:prstGeom>
          <a:solidFill>
            <a:schemeClr val="accent2"/>
          </a:solidFill>
          <a:ln/>
        </p:spPr>
        <p:txBody>
          <a:bodyPr/>
          <a:lstStyle/>
          <a:p>
            <a:endParaRPr lang="en-US"/>
          </a:p>
        </p:txBody>
      </p:sp>
      <p:sp>
        <p:nvSpPr>
          <p:cNvPr id="27" name="Text 25"/>
          <p:cNvSpPr txBox="1"/>
          <p:nvPr/>
        </p:nvSpPr>
        <p:spPr>
          <a:xfrm>
            <a:off x="9760458" y="1965960"/>
            <a:ext cx="1718005" cy="548640"/>
          </a:xfrm>
          <a:prstGeom prst="rect">
            <a:avLst/>
          </a:prstGeom>
          <a:noFill/>
          <a:ln/>
        </p:spPr>
        <p:txBody>
          <a:bodyPr wrap="square" lIns="0" tIns="0" rIns="0" bIns="0" rtlCol="0" anchor="t"/>
          <a:lstStyle/>
          <a:p>
            <a:pPr marL="0" indent="0" algn="ctr">
              <a:buNone/>
            </a:pPr>
            <a:r>
              <a:rPr lang="en-US" sz="2800" b="1" dirty="0">
                <a:solidFill>
                  <a:schemeClr val="accent2"/>
                </a:solidFill>
              </a:rPr>
              <a:t>2016</a:t>
            </a:r>
            <a:endParaRPr lang="en-US" sz="2800" dirty="0"/>
          </a:p>
        </p:txBody>
      </p:sp>
      <p:sp>
        <p:nvSpPr>
          <p:cNvPr id="28" name="Text 26"/>
          <p:cNvSpPr txBox="1"/>
          <p:nvPr/>
        </p:nvSpPr>
        <p:spPr>
          <a:xfrm>
            <a:off x="9787890" y="3246120"/>
            <a:ext cx="1663141" cy="365760"/>
          </a:xfrm>
          <a:prstGeom prst="rect">
            <a:avLst/>
          </a:prstGeom>
          <a:noFill/>
          <a:ln/>
        </p:spPr>
        <p:txBody>
          <a:bodyPr wrap="square" lIns="0" tIns="0" rIns="0" bIns="0" rtlCol="0" anchor="t"/>
          <a:lstStyle/>
          <a:p>
            <a:pPr marL="0" indent="0" algn="ctr">
              <a:buNone/>
            </a:pPr>
            <a:r>
              <a:rPr lang="en-US" sz="1600" b="1" dirty="0">
                <a:solidFill>
                  <a:schemeClr val="tx1"/>
                </a:solidFill>
              </a:rPr>
              <a:t>Nederland</a:t>
            </a:r>
            <a:endParaRPr lang="en-US" sz="1600" dirty="0"/>
          </a:p>
        </p:txBody>
      </p:sp>
      <p:sp>
        <p:nvSpPr>
          <p:cNvPr id="29" name="Text 27"/>
          <p:cNvSpPr txBox="1"/>
          <p:nvPr/>
        </p:nvSpPr>
        <p:spPr>
          <a:xfrm>
            <a:off x="9787890" y="3657600"/>
            <a:ext cx="1663141" cy="1188720"/>
          </a:xfrm>
          <a:prstGeom prst="rect">
            <a:avLst/>
          </a:prstGeom>
          <a:noFill/>
          <a:ln/>
        </p:spPr>
        <p:txBody>
          <a:bodyPr wrap="square" lIns="0" tIns="0" rIns="0" bIns="0" rtlCol="0" anchor="t"/>
          <a:lstStyle/>
          <a:p>
            <a:pPr marL="0" indent="0" algn="ctr">
              <a:buNone/>
            </a:pPr>
            <a:r>
              <a:rPr lang="en-US" sz="1400" dirty="0">
                <a:solidFill>
                  <a:schemeClr val="tx2"/>
                </a:solidFill>
              </a:rPr>
              <a:t>Een Nederlands tarief voor de EQ-5D-5L.</a:t>
            </a:r>
            <a:endParaRPr lang="en-US" sz="1400" dirty="0"/>
          </a:p>
        </p:txBody>
      </p:sp>
      <p:sp>
        <p:nvSpPr>
          <p:cNvPr id="30" name="Kern"/>
          <p:cNvSpPr/>
          <p:nvPr/>
        </p:nvSpPr>
        <p:spPr>
          <a:xfrm>
            <a:off x="667512" y="5166360"/>
            <a:ext cx="10856671" cy="868680"/>
          </a:xfrm>
          <a:prstGeom prst="roundRect">
            <a:avLst>
              <a:gd name="adj" fmla="val 12632"/>
            </a:avLst>
          </a:prstGeom>
          <a:solidFill>
            <a:schemeClr val="accent2">
              <a:alpha val="12000"/>
            </a:schemeClr>
          </a:solidFill>
          <a:ln/>
        </p:spPr>
        <p:txBody>
          <a:bodyPr/>
          <a:lstStyle/>
          <a:p>
            <a:endParaRPr lang="en-US"/>
          </a:p>
        </p:txBody>
      </p:sp>
      <p:sp>
        <p:nvSpPr>
          <p:cNvPr id="31" name="Text 29"/>
          <p:cNvSpPr txBox="1"/>
          <p:nvPr/>
        </p:nvSpPr>
        <p:spPr>
          <a:xfrm>
            <a:off x="941832" y="5166360"/>
            <a:ext cx="10308031" cy="868680"/>
          </a:xfrm>
          <a:prstGeom prst="rect">
            <a:avLst/>
          </a:prstGeom>
          <a:noFill/>
          <a:ln/>
        </p:spPr>
        <p:txBody>
          <a:bodyPr wrap="square" lIns="0" tIns="0" rIns="0" bIns="0" rtlCol="0" anchor="ctr"/>
          <a:lstStyle/>
          <a:p>
            <a:pPr marL="0" indent="0">
              <a:buNone/>
            </a:pPr>
            <a:r>
              <a:rPr lang="en-US" sz="1700" b="1" dirty="0">
                <a:solidFill>
                  <a:schemeClr val="tx1"/>
                </a:solidFill>
              </a:rPr>
              <a:t>om het eerlijk te maken: dezelfde regels voor iedereen, opgeschreven en controleerbaar.</a:t>
            </a:r>
            <a:endParaRPr lang="en-US" sz="1700" dirty="0"/>
          </a:p>
        </p:txBody>
      </p:sp>
      <p:sp>
        <p:nvSpPr>
          <p:cNvPr id="32" name="Bron"/>
          <p:cNvSpPr txBox="1"/>
          <p:nvPr/>
        </p:nvSpPr>
        <p:spPr>
          <a:xfrm>
            <a:off x="667512" y="6327648"/>
            <a:ext cx="10424160" cy="292608"/>
          </a:xfrm>
          <a:prstGeom prst="rect">
            <a:avLst/>
          </a:prstGeom>
          <a:noFill/>
          <a:ln/>
        </p:spPr>
        <p:txBody>
          <a:bodyPr wrap="square" lIns="0" tIns="0" rIns="0" bIns="0" rtlCol="0" anchor="t"/>
          <a:lstStyle/>
          <a:p>
            <a:pPr marL="0" indent="0">
              <a:buNone/>
            </a:pPr>
            <a:r>
              <a:rPr lang="en-US" sz="1000" dirty="0">
                <a:solidFill>
                  <a:schemeClr val="tx2"/>
                </a:solidFill>
              </a:rPr>
              <a:t>Bronnen: Klarman, Francis &amp; Rosenthal (1968), Medical Care 6:48–54; Torrance (1970); Cochrane (1972), Effectiveness and Efficiency; EuroQol Group (1990); Versteegh e.a. (2016), Value in Health.</a:t>
            </a:r>
            <a:endParaRPr lang="en-US" sz="1000" dirty="0"/>
          </a:p>
        </p:txBody>
      </p:sp>
      <p:sp>
        <p:nvSpPr>
          <p:cNvPr id="33"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HET MODEL</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Een model voegt kegels samen</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Neutraal niet omdat er geen keuzes in zitten, maar omdat die keuzes op tafel liggen</a:t>
            </a:r>
            <a:endParaRPr lang="en-US" sz="1500" dirty="0"/>
          </a:p>
        </p:txBody>
      </p:sp>
      <p:sp>
        <p:nvSpPr>
          <p:cNvPr id="5" name="Invoer Bewijs"/>
          <p:cNvSpPr/>
          <p:nvPr/>
        </p:nvSpPr>
        <p:spPr>
          <a:xfrm>
            <a:off x="667512" y="1783080"/>
            <a:ext cx="3840480" cy="1097280"/>
          </a:xfrm>
          <a:prstGeom prst="roundRect">
            <a:avLst>
              <a:gd name="adj" fmla="val 10000"/>
            </a:avLst>
          </a:prstGeom>
          <a:solidFill>
            <a:schemeClr val="bg2"/>
          </a:solidFill>
          <a:ln/>
        </p:spPr>
        <p:txBody>
          <a:bodyPr/>
          <a:lstStyle/>
          <a:p>
            <a:endParaRPr lang="en-US"/>
          </a:p>
        </p:txBody>
      </p:sp>
      <p:sp>
        <p:nvSpPr>
          <p:cNvPr id="6" name="Stip Bewijs"/>
          <p:cNvSpPr/>
          <p:nvPr/>
        </p:nvSpPr>
        <p:spPr>
          <a:xfrm>
            <a:off x="896112" y="2130552"/>
            <a:ext cx="402336" cy="402336"/>
          </a:xfrm>
          <a:prstGeom prst="ellipse">
            <a:avLst/>
          </a:prstGeom>
          <a:solidFill>
            <a:schemeClr val="accent6"/>
          </a:solidFill>
          <a:ln/>
        </p:spPr>
        <p:txBody>
          <a:bodyPr/>
          <a:lstStyle/>
          <a:p>
            <a:endParaRPr lang="en-US"/>
          </a:p>
        </p:txBody>
      </p:sp>
      <p:sp>
        <p:nvSpPr>
          <p:cNvPr id="7" name="Text 5"/>
          <p:cNvSpPr txBox="1"/>
          <p:nvPr/>
        </p:nvSpPr>
        <p:spPr>
          <a:xfrm>
            <a:off x="1490472" y="1938528"/>
            <a:ext cx="2834640" cy="384048"/>
          </a:xfrm>
          <a:prstGeom prst="rect">
            <a:avLst/>
          </a:prstGeom>
          <a:noFill/>
          <a:ln/>
        </p:spPr>
        <p:txBody>
          <a:bodyPr wrap="square" lIns="0" tIns="0" rIns="0" bIns="0" rtlCol="0" anchor="t"/>
          <a:lstStyle/>
          <a:p>
            <a:pPr marL="0" indent="0">
              <a:buNone/>
            </a:pPr>
            <a:r>
              <a:rPr lang="en-US" sz="1800" b="1" dirty="0">
                <a:solidFill>
                  <a:schemeClr val="tx1"/>
                </a:solidFill>
              </a:rPr>
              <a:t>Bewijs</a:t>
            </a:r>
            <a:endParaRPr lang="en-US" sz="1800" dirty="0"/>
          </a:p>
        </p:txBody>
      </p:sp>
      <p:sp>
        <p:nvSpPr>
          <p:cNvPr id="8" name="Text 6"/>
          <p:cNvSpPr txBox="1"/>
          <p:nvPr/>
        </p:nvSpPr>
        <p:spPr>
          <a:xfrm>
            <a:off x="1490472" y="2331720"/>
            <a:ext cx="2834640" cy="457200"/>
          </a:xfrm>
          <a:prstGeom prst="rect">
            <a:avLst/>
          </a:prstGeom>
          <a:noFill/>
          <a:ln/>
        </p:spPr>
        <p:txBody>
          <a:bodyPr wrap="square" lIns="0" tIns="0" rIns="0" bIns="0" rtlCol="0" anchor="t"/>
          <a:lstStyle/>
          <a:p>
            <a:pPr marL="0" indent="0">
              <a:buNone/>
            </a:pPr>
            <a:r>
              <a:rPr lang="en-US" sz="1400" dirty="0">
                <a:solidFill>
                  <a:schemeClr val="tx2"/>
                </a:solidFill>
              </a:rPr>
              <a:t>Wat werkt? Uit onderzoek en data.</a:t>
            </a:r>
            <a:endParaRPr lang="en-US" sz="1400" dirty="0"/>
          </a:p>
        </p:txBody>
      </p:sp>
      <p:sp>
        <p:nvSpPr>
          <p:cNvPr id="9" name="Invoer Waardering"/>
          <p:cNvSpPr/>
          <p:nvPr/>
        </p:nvSpPr>
        <p:spPr>
          <a:xfrm>
            <a:off x="667512" y="3063240"/>
            <a:ext cx="3840480" cy="1097280"/>
          </a:xfrm>
          <a:prstGeom prst="roundRect">
            <a:avLst>
              <a:gd name="adj" fmla="val 10000"/>
            </a:avLst>
          </a:prstGeom>
          <a:solidFill>
            <a:schemeClr val="bg2"/>
          </a:solidFill>
          <a:ln/>
        </p:spPr>
        <p:txBody>
          <a:bodyPr/>
          <a:lstStyle/>
          <a:p>
            <a:endParaRPr lang="en-US"/>
          </a:p>
        </p:txBody>
      </p:sp>
      <p:sp>
        <p:nvSpPr>
          <p:cNvPr id="10" name="Stip Waardering"/>
          <p:cNvSpPr/>
          <p:nvPr/>
        </p:nvSpPr>
        <p:spPr>
          <a:xfrm>
            <a:off x="896112" y="3410712"/>
            <a:ext cx="402336" cy="402336"/>
          </a:xfrm>
          <a:prstGeom prst="ellipse">
            <a:avLst/>
          </a:prstGeom>
          <a:solidFill>
            <a:schemeClr val="accent5"/>
          </a:solidFill>
          <a:ln/>
        </p:spPr>
        <p:txBody>
          <a:bodyPr/>
          <a:lstStyle/>
          <a:p>
            <a:endParaRPr lang="en-US"/>
          </a:p>
        </p:txBody>
      </p:sp>
      <p:sp>
        <p:nvSpPr>
          <p:cNvPr id="11" name="Text 9"/>
          <p:cNvSpPr txBox="1"/>
          <p:nvPr/>
        </p:nvSpPr>
        <p:spPr>
          <a:xfrm>
            <a:off x="1490472" y="3218688"/>
            <a:ext cx="2834640" cy="384048"/>
          </a:xfrm>
          <a:prstGeom prst="rect">
            <a:avLst/>
          </a:prstGeom>
          <a:noFill/>
          <a:ln/>
        </p:spPr>
        <p:txBody>
          <a:bodyPr wrap="square" lIns="0" tIns="0" rIns="0" bIns="0" rtlCol="0" anchor="t"/>
          <a:lstStyle/>
          <a:p>
            <a:pPr marL="0" indent="0">
              <a:buNone/>
            </a:pPr>
            <a:r>
              <a:rPr lang="en-US" sz="1800" b="1" dirty="0">
                <a:solidFill>
                  <a:schemeClr val="tx1"/>
                </a:solidFill>
              </a:rPr>
              <a:t>Waardering</a:t>
            </a:r>
            <a:endParaRPr lang="en-US" sz="1800" dirty="0"/>
          </a:p>
        </p:txBody>
      </p:sp>
      <p:sp>
        <p:nvSpPr>
          <p:cNvPr id="12" name="Text 10"/>
          <p:cNvSpPr txBox="1"/>
          <p:nvPr/>
        </p:nvSpPr>
        <p:spPr>
          <a:xfrm>
            <a:off x="1490472" y="3611880"/>
            <a:ext cx="2834640" cy="457200"/>
          </a:xfrm>
          <a:prstGeom prst="rect">
            <a:avLst/>
          </a:prstGeom>
          <a:noFill/>
          <a:ln/>
        </p:spPr>
        <p:txBody>
          <a:bodyPr wrap="square" lIns="0" tIns="0" rIns="0" bIns="0" rtlCol="0" anchor="t"/>
          <a:lstStyle/>
          <a:p>
            <a:pPr marL="0" indent="0">
              <a:buNone/>
            </a:pPr>
            <a:r>
              <a:rPr lang="en-US" sz="1400" dirty="0">
                <a:solidFill>
                  <a:schemeClr val="tx2"/>
                </a:solidFill>
              </a:rPr>
              <a:t>Wat vinden mensen belangrijk? De QALY.</a:t>
            </a:r>
            <a:endParaRPr lang="en-US" sz="1400" dirty="0"/>
          </a:p>
        </p:txBody>
      </p:sp>
      <p:sp>
        <p:nvSpPr>
          <p:cNvPr id="13" name="Invoer Kosten"/>
          <p:cNvSpPr/>
          <p:nvPr/>
        </p:nvSpPr>
        <p:spPr>
          <a:xfrm>
            <a:off x="667512" y="4343400"/>
            <a:ext cx="3840480" cy="1097280"/>
          </a:xfrm>
          <a:prstGeom prst="roundRect">
            <a:avLst>
              <a:gd name="adj" fmla="val 10000"/>
            </a:avLst>
          </a:prstGeom>
          <a:solidFill>
            <a:schemeClr val="bg2"/>
          </a:solidFill>
          <a:ln/>
        </p:spPr>
        <p:txBody>
          <a:bodyPr/>
          <a:lstStyle/>
          <a:p>
            <a:endParaRPr lang="en-US"/>
          </a:p>
        </p:txBody>
      </p:sp>
      <p:sp>
        <p:nvSpPr>
          <p:cNvPr id="14" name="Stip Kosten"/>
          <p:cNvSpPr/>
          <p:nvPr/>
        </p:nvSpPr>
        <p:spPr>
          <a:xfrm>
            <a:off x="896112" y="4690872"/>
            <a:ext cx="402336" cy="402336"/>
          </a:xfrm>
          <a:prstGeom prst="ellipse">
            <a:avLst/>
          </a:prstGeom>
          <a:solidFill>
            <a:schemeClr val="accent4"/>
          </a:solidFill>
          <a:ln/>
        </p:spPr>
        <p:txBody>
          <a:bodyPr/>
          <a:lstStyle/>
          <a:p>
            <a:endParaRPr lang="en-US"/>
          </a:p>
        </p:txBody>
      </p:sp>
      <p:sp>
        <p:nvSpPr>
          <p:cNvPr id="15" name="Text 13"/>
          <p:cNvSpPr txBox="1"/>
          <p:nvPr/>
        </p:nvSpPr>
        <p:spPr>
          <a:xfrm>
            <a:off x="1490472" y="4498848"/>
            <a:ext cx="2834640" cy="384048"/>
          </a:xfrm>
          <a:prstGeom prst="rect">
            <a:avLst/>
          </a:prstGeom>
          <a:noFill/>
          <a:ln/>
        </p:spPr>
        <p:txBody>
          <a:bodyPr wrap="square" lIns="0" tIns="0" rIns="0" bIns="0" rtlCol="0" anchor="t"/>
          <a:lstStyle/>
          <a:p>
            <a:pPr marL="0" indent="0">
              <a:buNone/>
            </a:pPr>
            <a:r>
              <a:rPr lang="en-US" sz="1800" b="1" dirty="0">
                <a:solidFill>
                  <a:schemeClr val="tx1"/>
                </a:solidFill>
              </a:rPr>
              <a:t>Kosten</a:t>
            </a:r>
            <a:endParaRPr lang="en-US" sz="1800" dirty="0"/>
          </a:p>
        </p:txBody>
      </p:sp>
      <p:sp>
        <p:nvSpPr>
          <p:cNvPr id="16" name="Text 14"/>
          <p:cNvSpPr txBox="1"/>
          <p:nvPr/>
        </p:nvSpPr>
        <p:spPr>
          <a:xfrm>
            <a:off x="1490472" y="4892040"/>
            <a:ext cx="2834640" cy="457200"/>
          </a:xfrm>
          <a:prstGeom prst="rect">
            <a:avLst/>
          </a:prstGeom>
          <a:noFill/>
          <a:ln/>
        </p:spPr>
        <p:txBody>
          <a:bodyPr wrap="square" lIns="0" tIns="0" rIns="0" bIns="0" rtlCol="0" anchor="t"/>
          <a:lstStyle/>
          <a:p>
            <a:pPr marL="0" indent="0">
              <a:buNone/>
            </a:pPr>
            <a:r>
              <a:rPr lang="en-US" sz="1400" dirty="0">
                <a:solidFill>
                  <a:schemeClr val="tx2"/>
                </a:solidFill>
              </a:rPr>
              <a:t>Wat vraagt het van ons allemaal?</a:t>
            </a:r>
            <a:endParaRPr lang="en-US" sz="1400" dirty="0"/>
          </a:p>
        </p:txBody>
      </p:sp>
      <p:sp>
        <p:nvSpPr>
          <p:cNvPr id="17" name="Pijl 1"/>
          <p:cNvSpPr/>
          <p:nvPr/>
        </p:nvSpPr>
        <p:spPr>
          <a:xfrm>
            <a:off x="4754880" y="3063240"/>
            <a:ext cx="822960" cy="548640"/>
          </a:xfrm>
          <a:prstGeom prst="rightArrow">
            <a:avLst/>
          </a:prstGeom>
          <a:solidFill>
            <a:schemeClr val="tx2"/>
          </a:solidFill>
          <a:ln/>
        </p:spPr>
        <p:txBody>
          <a:bodyPr/>
          <a:lstStyle/>
          <a:p>
            <a:endParaRPr lang="en-US"/>
          </a:p>
        </p:txBody>
      </p:sp>
      <p:sp>
        <p:nvSpPr>
          <p:cNvPr id="18" name="Model"/>
          <p:cNvSpPr/>
          <p:nvPr/>
        </p:nvSpPr>
        <p:spPr>
          <a:xfrm>
            <a:off x="5806440" y="2148840"/>
            <a:ext cx="2377440" cy="2377440"/>
          </a:xfrm>
          <a:prstGeom prst="ellipse">
            <a:avLst/>
          </a:prstGeom>
          <a:solidFill>
            <a:schemeClr val="accent1"/>
          </a:solidFill>
          <a:ln/>
        </p:spPr>
        <p:txBody>
          <a:bodyPr/>
          <a:lstStyle/>
          <a:p>
            <a:endParaRPr lang="en-US"/>
          </a:p>
        </p:txBody>
      </p:sp>
      <p:sp>
        <p:nvSpPr>
          <p:cNvPr id="19" name="Text 17"/>
          <p:cNvSpPr txBox="1"/>
          <p:nvPr/>
        </p:nvSpPr>
        <p:spPr>
          <a:xfrm>
            <a:off x="5806440" y="2971800"/>
            <a:ext cx="2377440" cy="457200"/>
          </a:xfrm>
          <a:prstGeom prst="rect">
            <a:avLst/>
          </a:prstGeom>
          <a:noFill/>
          <a:ln/>
        </p:spPr>
        <p:txBody>
          <a:bodyPr wrap="square" lIns="0" tIns="0" rIns="0" bIns="0" rtlCol="0" anchor="t"/>
          <a:lstStyle/>
          <a:p>
            <a:pPr marL="0" indent="0" algn="ctr">
              <a:buNone/>
            </a:pPr>
            <a:r>
              <a:rPr lang="en-US" sz="2600" b="1" dirty="0">
                <a:solidFill>
                  <a:schemeClr val="bg1"/>
                </a:solidFill>
              </a:rPr>
              <a:t>Model</a:t>
            </a:r>
            <a:endParaRPr lang="en-US" sz="2600" dirty="0"/>
          </a:p>
        </p:txBody>
      </p:sp>
      <p:sp>
        <p:nvSpPr>
          <p:cNvPr id="20" name="Text 18"/>
          <p:cNvSpPr txBox="1"/>
          <p:nvPr/>
        </p:nvSpPr>
        <p:spPr>
          <a:xfrm>
            <a:off x="5806440" y="3429000"/>
            <a:ext cx="2377440" cy="365760"/>
          </a:xfrm>
          <a:prstGeom prst="rect">
            <a:avLst/>
          </a:prstGeom>
          <a:noFill/>
          <a:ln/>
        </p:spPr>
        <p:txBody>
          <a:bodyPr wrap="square" lIns="0" tIns="0" rIns="0" bIns="0" rtlCol="0" anchor="t"/>
          <a:lstStyle/>
          <a:p>
            <a:pPr marL="0" indent="0" algn="ctr">
              <a:buNone/>
            </a:pPr>
            <a:r>
              <a:rPr lang="en-US" sz="1300" dirty="0">
                <a:solidFill>
                  <a:schemeClr val="bg1"/>
                </a:solidFill>
              </a:rPr>
              <a:t>aannames zichtbaar</a:t>
            </a:r>
            <a:endParaRPr lang="en-US" sz="1300" dirty="0"/>
          </a:p>
        </p:txBody>
      </p:sp>
      <p:sp>
        <p:nvSpPr>
          <p:cNvPr id="21" name="Pijl 2"/>
          <p:cNvSpPr/>
          <p:nvPr/>
        </p:nvSpPr>
        <p:spPr>
          <a:xfrm>
            <a:off x="8412480" y="3063240"/>
            <a:ext cx="822960" cy="548640"/>
          </a:xfrm>
          <a:prstGeom prst="rightArrow">
            <a:avLst/>
          </a:prstGeom>
          <a:solidFill>
            <a:schemeClr val="tx2"/>
          </a:solidFill>
          <a:ln/>
        </p:spPr>
        <p:txBody>
          <a:bodyPr/>
          <a:lstStyle/>
          <a:p>
            <a:endParaRPr lang="en-US"/>
          </a:p>
        </p:txBody>
      </p:sp>
      <p:sp>
        <p:nvSpPr>
          <p:cNvPr id="22" name="Besluit"/>
          <p:cNvSpPr/>
          <p:nvPr/>
        </p:nvSpPr>
        <p:spPr>
          <a:xfrm>
            <a:off x="9418320" y="2514600"/>
            <a:ext cx="2103120" cy="1645920"/>
          </a:xfrm>
          <a:prstGeom prst="roundRect">
            <a:avLst>
              <a:gd name="adj" fmla="val 6667"/>
            </a:avLst>
          </a:prstGeom>
          <a:solidFill>
            <a:schemeClr val="tx1"/>
          </a:solidFill>
          <a:ln/>
        </p:spPr>
        <p:txBody>
          <a:bodyPr/>
          <a:lstStyle/>
          <a:p>
            <a:endParaRPr lang="en-US"/>
          </a:p>
        </p:txBody>
      </p:sp>
      <p:sp>
        <p:nvSpPr>
          <p:cNvPr id="23" name="Text 21"/>
          <p:cNvSpPr txBox="1"/>
          <p:nvPr/>
        </p:nvSpPr>
        <p:spPr>
          <a:xfrm>
            <a:off x="9418320" y="2926080"/>
            <a:ext cx="2103120" cy="457200"/>
          </a:xfrm>
          <a:prstGeom prst="rect">
            <a:avLst/>
          </a:prstGeom>
          <a:noFill/>
          <a:ln/>
        </p:spPr>
        <p:txBody>
          <a:bodyPr wrap="square" lIns="0" tIns="0" rIns="0" bIns="0" rtlCol="0" anchor="t"/>
          <a:lstStyle/>
          <a:p>
            <a:pPr marL="0" indent="0" algn="ctr">
              <a:buNone/>
            </a:pPr>
            <a:r>
              <a:rPr lang="en-US" sz="2200" b="1" dirty="0">
                <a:solidFill>
                  <a:schemeClr val="bg1"/>
                </a:solidFill>
              </a:rPr>
              <a:t>Besluit</a:t>
            </a:r>
            <a:endParaRPr lang="en-US" sz="2200" dirty="0"/>
          </a:p>
        </p:txBody>
      </p:sp>
      <p:sp>
        <p:nvSpPr>
          <p:cNvPr id="24" name="Text 22"/>
          <p:cNvSpPr txBox="1"/>
          <p:nvPr/>
        </p:nvSpPr>
        <p:spPr>
          <a:xfrm>
            <a:off x="9555480" y="3383280"/>
            <a:ext cx="1828800" cy="640080"/>
          </a:xfrm>
          <a:prstGeom prst="rect">
            <a:avLst/>
          </a:prstGeom>
          <a:noFill/>
          <a:ln/>
        </p:spPr>
        <p:txBody>
          <a:bodyPr wrap="square" lIns="0" tIns="0" rIns="0" bIns="0" rtlCol="0" anchor="t"/>
          <a:lstStyle/>
          <a:p>
            <a:pPr marL="0" indent="0" algn="ctr">
              <a:buNone/>
            </a:pPr>
            <a:r>
              <a:rPr lang="en-US" sz="1300" dirty="0">
                <a:solidFill>
                  <a:schemeClr val="bg2"/>
                </a:solidFill>
              </a:rPr>
              <a:t>dat iedereen kan narekenen</a:t>
            </a:r>
            <a:endParaRPr lang="en-US" sz="1300" dirty="0"/>
          </a:p>
        </p:txBody>
      </p:sp>
      <p:sp>
        <p:nvSpPr>
          <p:cNvPr id="25" name="Kern"/>
          <p:cNvSpPr/>
          <p:nvPr/>
        </p:nvSpPr>
        <p:spPr>
          <a:xfrm>
            <a:off x="667512" y="5715000"/>
            <a:ext cx="10856671" cy="640080"/>
          </a:xfrm>
          <a:prstGeom prst="roundRect">
            <a:avLst>
              <a:gd name="adj" fmla="val 17143"/>
            </a:avLst>
          </a:prstGeom>
          <a:solidFill>
            <a:schemeClr val="bg2"/>
          </a:solidFill>
          <a:ln/>
        </p:spPr>
        <p:txBody>
          <a:bodyPr/>
          <a:lstStyle/>
          <a:p>
            <a:endParaRPr lang="en-US"/>
          </a:p>
        </p:txBody>
      </p:sp>
      <p:sp>
        <p:nvSpPr>
          <p:cNvPr id="26" name="Text 24"/>
          <p:cNvSpPr txBox="1"/>
          <p:nvPr/>
        </p:nvSpPr>
        <p:spPr>
          <a:xfrm>
            <a:off x="941832" y="5715000"/>
            <a:ext cx="10308031" cy="640080"/>
          </a:xfrm>
          <a:prstGeom prst="rect">
            <a:avLst/>
          </a:prstGeom>
          <a:noFill/>
          <a:ln/>
        </p:spPr>
        <p:txBody>
          <a:bodyPr wrap="square" lIns="0" tIns="0" rIns="0" bIns="0" rtlCol="0" anchor="ctr"/>
          <a:lstStyle/>
          <a:p>
            <a:pPr marL="0" indent="0">
              <a:buNone/>
            </a:pPr>
            <a:r>
              <a:rPr lang="en-US" sz="1600" b="1" dirty="0">
                <a:solidFill>
                  <a:schemeClr val="tx1"/>
                </a:solidFill>
              </a:rPr>
              <a:t>Iedereen kan de aannames zien, aanvechten en verbeteren. De uitkomst hangt niet af van wie het hardst praat.</a:t>
            </a:r>
            <a:endParaRPr lang="en-US" sz="1600" dirty="0"/>
          </a:p>
        </p:txBody>
      </p:sp>
      <p:sp>
        <p:nvSpPr>
          <p:cNvPr id="27"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MIJN WERK</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De wereld is niet lineair</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Onze intuïtie trekt rechte lijnen. Epidemieën doen dat niet.</a:t>
            </a:r>
            <a:endParaRPr lang="en-US" sz="1500" dirty="0"/>
          </a:p>
        </p:txBody>
      </p:sp>
      <p:graphicFrame>
        <p:nvGraphicFramePr>
          <p:cNvPr id="5" name="Grafiek groei"/>
          <p:cNvGraphicFramePr/>
          <p:nvPr/>
        </p:nvGraphicFramePr>
        <p:xfrm>
          <a:off x="667512" y="1691640"/>
          <a:ext cx="630936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6" name="Exponentiële groei"/>
          <p:cNvSpPr/>
          <p:nvPr/>
        </p:nvSpPr>
        <p:spPr>
          <a:xfrm>
            <a:off x="7269480" y="1783080"/>
            <a:ext cx="4251960" cy="1234440"/>
          </a:xfrm>
          <a:prstGeom prst="roundRect">
            <a:avLst>
              <a:gd name="adj" fmla="val 8889"/>
            </a:avLst>
          </a:prstGeom>
          <a:solidFill>
            <a:schemeClr val="bg2"/>
          </a:solidFill>
          <a:ln/>
        </p:spPr>
        <p:txBody>
          <a:bodyPr/>
          <a:lstStyle/>
          <a:p>
            <a:endParaRPr lang="en-US"/>
          </a:p>
        </p:txBody>
      </p:sp>
      <p:sp>
        <p:nvSpPr>
          <p:cNvPr id="7" name="Stip Exponentiële groei"/>
          <p:cNvSpPr/>
          <p:nvPr/>
        </p:nvSpPr>
        <p:spPr>
          <a:xfrm>
            <a:off x="7498080" y="2194560"/>
            <a:ext cx="402336" cy="402336"/>
          </a:xfrm>
          <a:prstGeom prst="ellipse">
            <a:avLst/>
          </a:prstGeom>
          <a:solidFill>
            <a:schemeClr val="accent3"/>
          </a:solidFill>
          <a:ln/>
        </p:spPr>
        <p:txBody>
          <a:bodyPr/>
          <a:lstStyle/>
          <a:p>
            <a:endParaRPr lang="en-US"/>
          </a:p>
        </p:txBody>
      </p:sp>
      <p:sp>
        <p:nvSpPr>
          <p:cNvPr id="8" name="Text 5"/>
          <p:cNvSpPr txBox="1"/>
          <p:nvPr/>
        </p:nvSpPr>
        <p:spPr>
          <a:xfrm>
            <a:off x="8092440" y="1938528"/>
            <a:ext cx="3246120" cy="384048"/>
          </a:xfrm>
          <a:prstGeom prst="rect">
            <a:avLst/>
          </a:prstGeom>
          <a:noFill/>
          <a:ln/>
        </p:spPr>
        <p:txBody>
          <a:bodyPr wrap="square" lIns="0" tIns="0" rIns="0" bIns="0" rtlCol="0" anchor="t"/>
          <a:lstStyle/>
          <a:p>
            <a:pPr marL="0" indent="0">
              <a:buNone/>
            </a:pPr>
            <a:r>
              <a:rPr lang="en-US" sz="1800" b="1" dirty="0">
                <a:solidFill>
                  <a:schemeClr val="tx1"/>
                </a:solidFill>
              </a:rPr>
              <a:t>Exponentiële groei</a:t>
            </a:r>
            <a:endParaRPr lang="en-US" sz="1800" dirty="0"/>
          </a:p>
        </p:txBody>
      </p:sp>
      <p:sp>
        <p:nvSpPr>
          <p:cNvPr id="9" name="Text 6"/>
          <p:cNvSpPr txBox="1"/>
          <p:nvPr/>
        </p:nvSpPr>
        <p:spPr>
          <a:xfrm>
            <a:off x="8092440" y="2331720"/>
            <a:ext cx="3246120" cy="594360"/>
          </a:xfrm>
          <a:prstGeom prst="rect">
            <a:avLst/>
          </a:prstGeom>
          <a:noFill/>
          <a:ln/>
        </p:spPr>
        <p:txBody>
          <a:bodyPr wrap="square" lIns="0" tIns="0" rIns="0" bIns="0" rtlCol="0" anchor="t"/>
          <a:lstStyle/>
          <a:p>
            <a:pPr marL="0" indent="0">
              <a:buNone/>
            </a:pPr>
            <a:r>
              <a:rPr lang="en-US" sz="1400" dirty="0">
                <a:solidFill>
                  <a:schemeClr val="tx2"/>
                </a:solidFill>
              </a:rPr>
              <a:t>We onderschatten verdubbeling stelselmatig, ook als het wordt uitgelegd.</a:t>
            </a:r>
            <a:endParaRPr lang="en-US" sz="1400" dirty="0"/>
          </a:p>
        </p:txBody>
      </p:sp>
      <p:sp>
        <p:nvSpPr>
          <p:cNvPr id="10" name="Groepsimmuniteit"/>
          <p:cNvSpPr/>
          <p:nvPr/>
        </p:nvSpPr>
        <p:spPr>
          <a:xfrm>
            <a:off x="7269480" y="3200400"/>
            <a:ext cx="4251960" cy="1234440"/>
          </a:xfrm>
          <a:prstGeom prst="roundRect">
            <a:avLst>
              <a:gd name="adj" fmla="val 8889"/>
            </a:avLst>
          </a:prstGeom>
          <a:solidFill>
            <a:schemeClr val="bg2"/>
          </a:solidFill>
          <a:ln/>
        </p:spPr>
        <p:txBody>
          <a:bodyPr/>
          <a:lstStyle/>
          <a:p>
            <a:endParaRPr lang="en-US"/>
          </a:p>
        </p:txBody>
      </p:sp>
      <p:sp>
        <p:nvSpPr>
          <p:cNvPr id="11" name="Stip Groepsimmuniteit"/>
          <p:cNvSpPr/>
          <p:nvPr/>
        </p:nvSpPr>
        <p:spPr>
          <a:xfrm>
            <a:off x="7498080" y="3611880"/>
            <a:ext cx="402336" cy="402336"/>
          </a:xfrm>
          <a:prstGeom prst="ellipse">
            <a:avLst/>
          </a:prstGeom>
          <a:solidFill>
            <a:schemeClr val="accent1"/>
          </a:solidFill>
          <a:ln/>
        </p:spPr>
        <p:txBody>
          <a:bodyPr/>
          <a:lstStyle/>
          <a:p>
            <a:endParaRPr lang="en-US"/>
          </a:p>
        </p:txBody>
      </p:sp>
      <p:sp>
        <p:nvSpPr>
          <p:cNvPr id="12" name="Text 9"/>
          <p:cNvSpPr txBox="1"/>
          <p:nvPr/>
        </p:nvSpPr>
        <p:spPr>
          <a:xfrm>
            <a:off x="8092440" y="3355848"/>
            <a:ext cx="3246120" cy="384048"/>
          </a:xfrm>
          <a:prstGeom prst="rect">
            <a:avLst/>
          </a:prstGeom>
          <a:noFill/>
          <a:ln/>
        </p:spPr>
        <p:txBody>
          <a:bodyPr wrap="square" lIns="0" tIns="0" rIns="0" bIns="0" rtlCol="0" anchor="t"/>
          <a:lstStyle/>
          <a:p>
            <a:pPr marL="0" indent="0">
              <a:buNone/>
            </a:pPr>
            <a:r>
              <a:rPr lang="en-US" sz="1800" b="1" dirty="0">
                <a:solidFill>
                  <a:schemeClr val="tx1"/>
                </a:solidFill>
              </a:rPr>
              <a:t>Groepsimmuniteit</a:t>
            </a:r>
            <a:endParaRPr lang="en-US" sz="1800" dirty="0"/>
          </a:p>
        </p:txBody>
      </p:sp>
      <p:sp>
        <p:nvSpPr>
          <p:cNvPr id="13" name="Text 10"/>
          <p:cNvSpPr txBox="1"/>
          <p:nvPr/>
        </p:nvSpPr>
        <p:spPr>
          <a:xfrm>
            <a:off x="8092440" y="3749040"/>
            <a:ext cx="3246120" cy="594360"/>
          </a:xfrm>
          <a:prstGeom prst="rect">
            <a:avLst/>
          </a:prstGeom>
          <a:noFill/>
          <a:ln/>
        </p:spPr>
        <p:txBody>
          <a:bodyPr wrap="square" lIns="0" tIns="0" rIns="0" bIns="0" rtlCol="0" anchor="t"/>
          <a:lstStyle/>
          <a:p>
            <a:pPr marL="0" indent="0">
              <a:buNone/>
            </a:pPr>
            <a:r>
              <a:rPr lang="en-US" sz="1400" dirty="0">
                <a:solidFill>
                  <a:schemeClr val="tx2"/>
                </a:solidFill>
              </a:rPr>
              <a:t>Wie zich laat vaccineren, beschermt ook anderen.</a:t>
            </a:r>
            <a:endParaRPr lang="en-US" sz="1400" dirty="0"/>
          </a:p>
        </p:txBody>
      </p:sp>
      <p:sp>
        <p:nvSpPr>
          <p:cNvPr id="14" name="Drempels"/>
          <p:cNvSpPr/>
          <p:nvPr/>
        </p:nvSpPr>
        <p:spPr>
          <a:xfrm>
            <a:off x="7269480" y="4617720"/>
            <a:ext cx="4251960" cy="1234440"/>
          </a:xfrm>
          <a:prstGeom prst="roundRect">
            <a:avLst>
              <a:gd name="adj" fmla="val 8889"/>
            </a:avLst>
          </a:prstGeom>
          <a:solidFill>
            <a:schemeClr val="bg2"/>
          </a:solidFill>
          <a:ln/>
        </p:spPr>
        <p:txBody>
          <a:bodyPr/>
          <a:lstStyle/>
          <a:p>
            <a:endParaRPr lang="en-US"/>
          </a:p>
        </p:txBody>
      </p:sp>
      <p:sp>
        <p:nvSpPr>
          <p:cNvPr id="15" name="Stip Drempels"/>
          <p:cNvSpPr/>
          <p:nvPr/>
        </p:nvSpPr>
        <p:spPr>
          <a:xfrm>
            <a:off x="7498080" y="5029200"/>
            <a:ext cx="402336" cy="402336"/>
          </a:xfrm>
          <a:prstGeom prst="ellipse">
            <a:avLst/>
          </a:prstGeom>
          <a:solidFill>
            <a:schemeClr val="accent2"/>
          </a:solidFill>
          <a:ln/>
        </p:spPr>
        <p:txBody>
          <a:bodyPr/>
          <a:lstStyle/>
          <a:p>
            <a:endParaRPr lang="en-US"/>
          </a:p>
        </p:txBody>
      </p:sp>
      <p:sp>
        <p:nvSpPr>
          <p:cNvPr id="16" name="Text 13"/>
          <p:cNvSpPr txBox="1"/>
          <p:nvPr/>
        </p:nvSpPr>
        <p:spPr>
          <a:xfrm>
            <a:off x="8092440" y="4773168"/>
            <a:ext cx="3246120" cy="384048"/>
          </a:xfrm>
          <a:prstGeom prst="rect">
            <a:avLst/>
          </a:prstGeom>
          <a:noFill/>
          <a:ln/>
        </p:spPr>
        <p:txBody>
          <a:bodyPr wrap="square" lIns="0" tIns="0" rIns="0" bIns="0" rtlCol="0" anchor="t"/>
          <a:lstStyle/>
          <a:p>
            <a:pPr marL="0" indent="0">
              <a:buNone/>
            </a:pPr>
            <a:r>
              <a:rPr lang="en-US" sz="1800" b="1" dirty="0">
                <a:solidFill>
                  <a:schemeClr val="tx1"/>
                </a:solidFill>
              </a:rPr>
              <a:t>Drempels</a:t>
            </a:r>
            <a:endParaRPr lang="en-US" sz="1800" dirty="0"/>
          </a:p>
        </p:txBody>
      </p:sp>
      <p:sp>
        <p:nvSpPr>
          <p:cNvPr id="17" name="Text 14"/>
          <p:cNvSpPr txBox="1"/>
          <p:nvPr/>
        </p:nvSpPr>
        <p:spPr>
          <a:xfrm>
            <a:off x="8092440" y="5166360"/>
            <a:ext cx="3246120" cy="594360"/>
          </a:xfrm>
          <a:prstGeom prst="rect">
            <a:avLst/>
          </a:prstGeom>
          <a:noFill/>
          <a:ln/>
        </p:spPr>
        <p:txBody>
          <a:bodyPr wrap="square" lIns="0" tIns="0" rIns="0" bIns="0" rtlCol="0" anchor="t"/>
          <a:lstStyle/>
          <a:p>
            <a:pPr marL="0" indent="0">
              <a:buNone/>
            </a:pPr>
            <a:r>
              <a:rPr lang="en-US" sz="1400" dirty="0">
                <a:solidFill>
                  <a:schemeClr val="tx2"/>
                </a:solidFill>
              </a:rPr>
              <a:t>Boven een bepaalde drempel dooft een epidemie uit.</a:t>
            </a:r>
            <a:endParaRPr lang="en-US" sz="1400" dirty="0"/>
          </a:p>
        </p:txBody>
      </p:sp>
      <p:sp>
        <p:nvSpPr>
          <p:cNvPr id="18" name="Bron"/>
          <p:cNvSpPr txBox="1"/>
          <p:nvPr/>
        </p:nvSpPr>
        <p:spPr>
          <a:xfrm>
            <a:off x="667512" y="6327648"/>
            <a:ext cx="10424160" cy="292608"/>
          </a:xfrm>
          <a:prstGeom prst="rect">
            <a:avLst/>
          </a:prstGeom>
          <a:noFill/>
          <a:ln/>
        </p:spPr>
        <p:txBody>
          <a:bodyPr wrap="square" lIns="0" tIns="0" rIns="0" bIns="0" rtlCol="0" anchor="t"/>
          <a:lstStyle/>
          <a:p>
            <a:pPr marL="0" indent="0">
              <a:buNone/>
            </a:pPr>
            <a:r>
              <a:rPr lang="en-US" sz="1000" dirty="0">
                <a:solidFill>
                  <a:schemeClr val="tx2"/>
                </a:solidFill>
              </a:rPr>
              <a:t>Illustratief voorbeeld. Bron onderschatting: Wagenaar, W.A. &amp; Sagaria, S.D. (1975). Misperception of exponential growth. Perception &amp; Psychophysics 18:416–422.</a:t>
            </a:r>
            <a:endParaRPr lang="en-US" sz="10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KWALITEIT VAN LEVEN</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We leven langer</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Resterende levensverwachting op 65 jaar, Nederland</a:t>
            </a:r>
            <a:endParaRPr lang="en-US" sz="1500" dirty="0"/>
          </a:p>
        </p:txBody>
      </p:sp>
      <p:graphicFrame>
        <p:nvGraphicFramePr>
          <p:cNvPr id="5" name="Grafiek levensverwachting"/>
          <p:cNvGraphicFramePr/>
          <p:nvPr/>
        </p:nvGraphicFramePr>
        <p:xfrm>
          <a:off x="667512" y="1691640"/>
          <a:ext cx="69494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6" name="Mannen"/>
          <p:cNvSpPr/>
          <p:nvPr/>
        </p:nvSpPr>
        <p:spPr>
          <a:xfrm>
            <a:off x="8001000" y="1920240"/>
            <a:ext cx="3520440" cy="1645920"/>
          </a:xfrm>
          <a:prstGeom prst="roundRect">
            <a:avLst>
              <a:gd name="adj" fmla="val 6667"/>
            </a:avLst>
          </a:prstGeom>
          <a:solidFill>
            <a:schemeClr val="bg2"/>
          </a:solidFill>
          <a:ln/>
        </p:spPr>
        <p:txBody>
          <a:bodyPr/>
          <a:lstStyle/>
          <a:p>
            <a:endParaRPr lang="en-US"/>
          </a:p>
        </p:txBody>
      </p:sp>
      <p:sp>
        <p:nvSpPr>
          <p:cNvPr id="7" name="Text 4"/>
          <p:cNvSpPr txBox="1"/>
          <p:nvPr/>
        </p:nvSpPr>
        <p:spPr>
          <a:xfrm>
            <a:off x="8275320" y="2103120"/>
            <a:ext cx="3017520" cy="822960"/>
          </a:xfrm>
          <a:prstGeom prst="rect">
            <a:avLst/>
          </a:prstGeom>
          <a:noFill/>
          <a:ln/>
        </p:spPr>
        <p:txBody>
          <a:bodyPr wrap="square" lIns="0" tIns="0" rIns="0" bIns="0" rtlCol="0" anchor="t"/>
          <a:lstStyle/>
          <a:p>
            <a:pPr marL="0" indent="0">
              <a:buNone/>
            </a:pPr>
            <a:r>
              <a:rPr lang="en-US" sz="4000" b="1" dirty="0">
                <a:solidFill>
                  <a:schemeClr val="accent1"/>
                </a:solidFill>
              </a:rPr>
              <a:t>+5,1 jaar</a:t>
            </a:r>
            <a:endParaRPr lang="en-US" sz="4000" dirty="0"/>
          </a:p>
        </p:txBody>
      </p:sp>
      <p:sp>
        <p:nvSpPr>
          <p:cNvPr id="8" name="Text 5"/>
          <p:cNvSpPr txBox="1"/>
          <p:nvPr/>
        </p:nvSpPr>
        <p:spPr>
          <a:xfrm>
            <a:off x="8275320" y="2971800"/>
            <a:ext cx="3017520" cy="411480"/>
          </a:xfrm>
          <a:prstGeom prst="rect">
            <a:avLst/>
          </a:prstGeom>
          <a:noFill/>
          <a:ln/>
        </p:spPr>
        <p:txBody>
          <a:bodyPr wrap="square" lIns="0" tIns="0" rIns="0" bIns="0" rtlCol="0" anchor="t"/>
          <a:lstStyle/>
          <a:p>
            <a:pPr marL="0" indent="0">
              <a:buNone/>
            </a:pPr>
            <a:r>
              <a:rPr lang="en-US" sz="1600" dirty="0">
                <a:solidFill>
                  <a:schemeClr val="tx2"/>
                </a:solidFill>
              </a:rPr>
              <a:t>Mannen, 1981 → 2025</a:t>
            </a:r>
            <a:endParaRPr lang="en-US" sz="1600" dirty="0"/>
          </a:p>
        </p:txBody>
      </p:sp>
      <p:sp>
        <p:nvSpPr>
          <p:cNvPr id="9" name="Vrouwen"/>
          <p:cNvSpPr/>
          <p:nvPr/>
        </p:nvSpPr>
        <p:spPr>
          <a:xfrm>
            <a:off x="8001000" y="3840480"/>
            <a:ext cx="3520440" cy="1645920"/>
          </a:xfrm>
          <a:prstGeom prst="roundRect">
            <a:avLst>
              <a:gd name="adj" fmla="val 6667"/>
            </a:avLst>
          </a:prstGeom>
          <a:solidFill>
            <a:schemeClr val="bg2"/>
          </a:solidFill>
          <a:ln/>
        </p:spPr>
        <p:txBody>
          <a:bodyPr/>
          <a:lstStyle/>
          <a:p>
            <a:endParaRPr lang="en-US"/>
          </a:p>
        </p:txBody>
      </p:sp>
      <p:sp>
        <p:nvSpPr>
          <p:cNvPr id="10" name="Text 7"/>
          <p:cNvSpPr txBox="1"/>
          <p:nvPr/>
        </p:nvSpPr>
        <p:spPr>
          <a:xfrm>
            <a:off x="8275320" y="4023360"/>
            <a:ext cx="3017520" cy="822960"/>
          </a:xfrm>
          <a:prstGeom prst="rect">
            <a:avLst/>
          </a:prstGeom>
          <a:noFill/>
          <a:ln/>
        </p:spPr>
        <p:txBody>
          <a:bodyPr wrap="square" lIns="0" tIns="0" rIns="0" bIns="0" rtlCol="0" anchor="t"/>
          <a:lstStyle/>
          <a:p>
            <a:pPr marL="0" indent="0">
              <a:buNone/>
            </a:pPr>
            <a:r>
              <a:rPr lang="en-US" sz="4000" b="1" dirty="0">
                <a:solidFill>
                  <a:schemeClr val="accent1"/>
                </a:solidFill>
              </a:rPr>
              <a:t>+2,6 jaar</a:t>
            </a:r>
            <a:endParaRPr lang="en-US" sz="4000" dirty="0"/>
          </a:p>
        </p:txBody>
      </p:sp>
      <p:sp>
        <p:nvSpPr>
          <p:cNvPr id="11" name="Text 8"/>
          <p:cNvSpPr txBox="1"/>
          <p:nvPr/>
        </p:nvSpPr>
        <p:spPr>
          <a:xfrm>
            <a:off x="8275320" y="4892040"/>
            <a:ext cx="3017520" cy="411480"/>
          </a:xfrm>
          <a:prstGeom prst="rect">
            <a:avLst/>
          </a:prstGeom>
          <a:noFill/>
          <a:ln/>
        </p:spPr>
        <p:txBody>
          <a:bodyPr wrap="square" lIns="0" tIns="0" rIns="0" bIns="0" rtlCol="0" anchor="t"/>
          <a:lstStyle/>
          <a:p>
            <a:pPr marL="0" indent="0">
              <a:buNone/>
            </a:pPr>
            <a:r>
              <a:rPr lang="en-US" sz="1600" dirty="0">
                <a:solidFill>
                  <a:schemeClr val="tx2"/>
                </a:solidFill>
              </a:rPr>
              <a:t>Vrouwen, 1981 → 2025</a:t>
            </a:r>
            <a:endParaRPr lang="en-US" sz="1600" dirty="0"/>
          </a:p>
        </p:txBody>
      </p:sp>
      <p:sp>
        <p:nvSpPr>
          <p:cNvPr id="12" name="Bron"/>
          <p:cNvSpPr txBox="1"/>
          <p:nvPr/>
        </p:nvSpPr>
        <p:spPr>
          <a:xfrm>
            <a:off x="667512" y="6327648"/>
            <a:ext cx="10424160" cy="292608"/>
          </a:xfrm>
          <a:prstGeom prst="rect">
            <a:avLst/>
          </a:prstGeom>
          <a:noFill/>
          <a:ln/>
        </p:spPr>
        <p:txBody>
          <a:bodyPr wrap="square" lIns="0" tIns="0" rIns="0" bIns="0" rtlCol="0" anchor="t"/>
          <a:lstStyle/>
          <a:p>
            <a:pPr marL="0" indent="0">
              <a:buNone/>
            </a:pPr>
            <a:r>
              <a:rPr lang="en-US" sz="1000" dirty="0">
                <a:solidFill>
                  <a:schemeClr val="tx2"/>
                </a:solidFill>
              </a:rPr>
              <a:t>Bron: CBS StatLine, Gezonde levensverwachting; vanaf 1981 (tabel 71950NED), leeftijd 65 jaar.</a:t>
            </a:r>
            <a:endParaRPr lang="en-US" sz="10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KWALITEIT VAN LEVEN</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Niet elk jaar na je 65e is een gezond jaar</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Resterende levensverwachting op 65 jaar: in als goed ervaren gezondheid, en de rest</a:t>
            </a:r>
            <a:endParaRPr lang="en-US" sz="1500" dirty="0"/>
          </a:p>
        </p:txBody>
      </p:sp>
      <p:graphicFrame>
        <p:nvGraphicFramePr>
          <p:cNvPr id="5" name="Grafiek gezonde levensverwachting"/>
          <p:cNvGraphicFramePr/>
          <p:nvPr/>
        </p:nvGraphicFramePr>
        <p:xfrm>
          <a:off x="667512" y="1691640"/>
          <a:ext cx="69494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6" name="Mannen"/>
          <p:cNvSpPr/>
          <p:nvPr/>
        </p:nvSpPr>
        <p:spPr>
          <a:xfrm>
            <a:off x="8001000" y="1920240"/>
            <a:ext cx="3520440" cy="1645920"/>
          </a:xfrm>
          <a:prstGeom prst="roundRect">
            <a:avLst>
              <a:gd name="adj" fmla="val 6667"/>
            </a:avLst>
          </a:prstGeom>
          <a:solidFill>
            <a:schemeClr val="bg2"/>
          </a:solidFill>
          <a:ln/>
        </p:spPr>
        <p:txBody>
          <a:bodyPr/>
          <a:lstStyle/>
          <a:p>
            <a:endParaRPr lang="en-US"/>
          </a:p>
        </p:txBody>
      </p:sp>
      <p:sp>
        <p:nvSpPr>
          <p:cNvPr id="7" name="Text 4"/>
          <p:cNvSpPr txBox="1"/>
          <p:nvPr/>
        </p:nvSpPr>
        <p:spPr>
          <a:xfrm>
            <a:off x="8275320" y="2057400"/>
            <a:ext cx="3017520" cy="365760"/>
          </a:xfrm>
          <a:prstGeom prst="rect">
            <a:avLst/>
          </a:prstGeom>
          <a:noFill/>
          <a:ln/>
        </p:spPr>
        <p:txBody>
          <a:bodyPr wrap="square" lIns="0" tIns="0" rIns="0" bIns="0" rtlCol="0" anchor="t"/>
          <a:lstStyle/>
          <a:p>
            <a:pPr marL="0" indent="0">
              <a:buNone/>
            </a:pPr>
            <a:r>
              <a:rPr lang="en-US" sz="1600" b="1" dirty="0">
                <a:solidFill>
                  <a:schemeClr val="tx1"/>
                </a:solidFill>
              </a:rPr>
              <a:t>Mannen, 1981 → 2025</a:t>
            </a:r>
            <a:endParaRPr lang="en-US" sz="1600" dirty="0"/>
          </a:p>
        </p:txBody>
      </p:sp>
      <p:sp>
        <p:nvSpPr>
          <p:cNvPr id="8" name="Text 5"/>
          <p:cNvSpPr txBox="1"/>
          <p:nvPr/>
        </p:nvSpPr>
        <p:spPr>
          <a:xfrm>
            <a:off x="8275320" y="2468880"/>
            <a:ext cx="3108960" cy="502920"/>
          </a:xfrm>
          <a:prstGeom prst="rect">
            <a:avLst/>
          </a:prstGeom>
          <a:noFill/>
          <a:ln/>
        </p:spPr>
        <p:txBody>
          <a:bodyPr wrap="square" lIns="0" tIns="0" rIns="0" bIns="0" rtlCol="0" anchor="ctr"/>
          <a:lstStyle/>
          <a:p>
            <a:pPr marL="0" indent="0">
              <a:buNone/>
            </a:pPr>
            <a:r>
              <a:rPr lang="en-US" sz="3000" b="1" dirty="0">
                <a:solidFill>
                  <a:schemeClr val="accent2"/>
                </a:solidFill>
              </a:rPr>
              <a:t>+3,5</a:t>
            </a:r>
            <a:r>
              <a:rPr lang="en-US" sz="1500" dirty="0">
                <a:solidFill>
                  <a:schemeClr val="tx2"/>
                </a:solidFill>
              </a:rPr>
              <a:t>  gezonde jaren</a:t>
            </a:r>
            <a:endParaRPr lang="en-US" sz="1600" dirty="0"/>
          </a:p>
        </p:txBody>
      </p:sp>
      <p:sp>
        <p:nvSpPr>
          <p:cNvPr id="9" name="Text 6"/>
          <p:cNvSpPr txBox="1"/>
          <p:nvPr/>
        </p:nvSpPr>
        <p:spPr>
          <a:xfrm>
            <a:off x="8275320" y="2971800"/>
            <a:ext cx="3108960" cy="502920"/>
          </a:xfrm>
          <a:prstGeom prst="rect">
            <a:avLst/>
          </a:prstGeom>
          <a:noFill/>
          <a:ln/>
        </p:spPr>
        <p:txBody>
          <a:bodyPr wrap="square" lIns="0" tIns="0" rIns="0" bIns="0" rtlCol="0" anchor="ctr"/>
          <a:lstStyle/>
          <a:p>
            <a:pPr marL="0" indent="0">
              <a:buNone/>
            </a:pPr>
            <a:r>
              <a:rPr lang="en-US" sz="3000" b="1" dirty="0">
                <a:solidFill>
                  <a:schemeClr val="accent3"/>
                </a:solidFill>
              </a:rPr>
              <a:t>+1,6</a:t>
            </a:r>
            <a:r>
              <a:rPr lang="en-US" sz="1500" dirty="0">
                <a:solidFill>
                  <a:schemeClr val="tx2"/>
                </a:solidFill>
              </a:rPr>
              <a:t>  minder gezonde jaren</a:t>
            </a:r>
            <a:endParaRPr lang="en-US" sz="1600" dirty="0"/>
          </a:p>
        </p:txBody>
      </p:sp>
      <p:sp>
        <p:nvSpPr>
          <p:cNvPr id="10" name="Vrouwen"/>
          <p:cNvSpPr/>
          <p:nvPr/>
        </p:nvSpPr>
        <p:spPr>
          <a:xfrm>
            <a:off x="8001000" y="3840480"/>
            <a:ext cx="3520440" cy="1645920"/>
          </a:xfrm>
          <a:prstGeom prst="roundRect">
            <a:avLst>
              <a:gd name="adj" fmla="val 6667"/>
            </a:avLst>
          </a:prstGeom>
          <a:solidFill>
            <a:schemeClr val="bg2"/>
          </a:solidFill>
          <a:ln/>
        </p:spPr>
        <p:txBody>
          <a:bodyPr/>
          <a:lstStyle/>
          <a:p>
            <a:endParaRPr lang="en-US"/>
          </a:p>
        </p:txBody>
      </p:sp>
      <p:sp>
        <p:nvSpPr>
          <p:cNvPr id="11" name="Text 8"/>
          <p:cNvSpPr txBox="1"/>
          <p:nvPr/>
        </p:nvSpPr>
        <p:spPr>
          <a:xfrm>
            <a:off x="8275320" y="3977640"/>
            <a:ext cx="3017520" cy="365760"/>
          </a:xfrm>
          <a:prstGeom prst="rect">
            <a:avLst/>
          </a:prstGeom>
          <a:noFill/>
          <a:ln/>
        </p:spPr>
        <p:txBody>
          <a:bodyPr wrap="square" lIns="0" tIns="0" rIns="0" bIns="0" rtlCol="0" anchor="t"/>
          <a:lstStyle/>
          <a:p>
            <a:pPr marL="0" indent="0">
              <a:buNone/>
            </a:pPr>
            <a:r>
              <a:rPr lang="en-US" sz="1600" b="1" dirty="0">
                <a:solidFill>
                  <a:schemeClr val="tx1"/>
                </a:solidFill>
              </a:rPr>
              <a:t>Vrouwen, 1981 → 2025</a:t>
            </a:r>
            <a:endParaRPr lang="en-US" sz="1600" dirty="0"/>
          </a:p>
        </p:txBody>
      </p:sp>
      <p:sp>
        <p:nvSpPr>
          <p:cNvPr id="12" name="Text 9"/>
          <p:cNvSpPr txBox="1"/>
          <p:nvPr/>
        </p:nvSpPr>
        <p:spPr>
          <a:xfrm>
            <a:off x="8275320" y="4389120"/>
            <a:ext cx="3108960" cy="502920"/>
          </a:xfrm>
          <a:prstGeom prst="rect">
            <a:avLst/>
          </a:prstGeom>
          <a:noFill/>
          <a:ln/>
        </p:spPr>
        <p:txBody>
          <a:bodyPr wrap="square" lIns="0" tIns="0" rIns="0" bIns="0" rtlCol="0" anchor="ctr"/>
          <a:lstStyle/>
          <a:p>
            <a:pPr marL="0" indent="0">
              <a:buNone/>
            </a:pPr>
            <a:r>
              <a:rPr lang="en-US" sz="3000" b="1" dirty="0">
                <a:solidFill>
                  <a:schemeClr val="accent2"/>
                </a:solidFill>
              </a:rPr>
              <a:t>+1,7</a:t>
            </a:r>
            <a:r>
              <a:rPr lang="en-US" sz="1500" dirty="0">
                <a:solidFill>
                  <a:schemeClr val="tx2"/>
                </a:solidFill>
              </a:rPr>
              <a:t>  gezonde jaren</a:t>
            </a:r>
            <a:endParaRPr lang="en-US" sz="1600" dirty="0"/>
          </a:p>
        </p:txBody>
      </p:sp>
      <p:sp>
        <p:nvSpPr>
          <p:cNvPr id="13" name="Text 10"/>
          <p:cNvSpPr txBox="1"/>
          <p:nvPr/>
        </p:nvSpPr>
        <p:spPr>
          <a:xfrm>
            <a:off x="8275320" y="4892040"/>
            <a:ext cx="3108960" cy="502920"/>
          </a:xfrm>
          <a:prstGeom prst="rect">
            <a:avLst/>
          </a:prstGeom>
          <a:noFill/>
          <a:ln/>
        </p:spPr>
        <p:txBody>
          <a:bodyPr wrap="square" lIns="0" tIns="0" rIns="0" bIns="0" rtlCol="0" anchor="ctr"/>
          <a:lstStyle/>
          <a:p>
            <a:pPr marL="0" indent="0">
              <a:buNone/>
            </a:pPr>
            <a:r>
              <a:rPr lang="en-US" sz="3000" b="1" dirty="0">
                <a:solidFill>
                  <a:schemeClr val="accent3"/>
                </a:solidFill>
              </a:rPr>
              <a:t>+0,9</a:t>
            </a:r>
            <a:r>
              <a:rPr lang="en-US" sz="1500" dirty="0">
                <a:solidFill>
                  <a:schemeClr val="tx2"/>
                </a:solidFill>
              </a:rPr>
              <a:t>  minder gezonde jaren</a:t>
            </a:r>
            <a:endParaRPr lang="en-US" sz="1600" dirty="0"/>
          </a:p>
        </p:txBody>
      </p:sp>
      <p:sp>
        <p:nvSpPr>
          <p:cNvPr id="14" name="Bron"/>
          <p:cNvSpPr txBox="1"/>
          <p:nvPr/>
        </p:nvSpPr>
        <p:spPr>
          <a:xfrm>
            <a:off x="667512" y="6327648"/>
            <a:ext cx="10424160" cy="292608"/>
          </a:xfrm>
          <a:prstGeom prst="rect">
            <a:avLst/>
          </a:prstGeom>
          <a:noFill/>
          <a:ln/>
        </p:spPr>
        <p:txBody>
          <a:bodyPr wrap="square" lIns="0" tIns="0" rIns="0" bIns="0" rtlCol="0" anchor="t"/>
          <a:lstStyle/>
          <a:p>
            <a:pPr marL="0" indent="0">
              <a:buNone/>
            </a:pPr>
            <a:r>
              <a:rPr lang="en-US" sz="1000" dirty="0">
                <a:solidFill>
                  <a:schemeClr val="tx2"/>
                </a:solidFill>
              </a:rPr>
              <a:t>Bron: CBS StatLine, tabel 71950NED. ‘Goed ervaren gezondheid’ is zelf gerapporteerd: een jaar telt als gezond of niet. Een QALY weegt elk jaar met een gewicht.</a:t>
            </a:r>
            <a:endParaRPr lang="en-US" sz="10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DE QALY</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Tijd maal kwaliteit</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Een jaar in volledige gezondheid telt als 1; een jaar met klachten telt minder</a:t>
            </a:r>
            <a:endParaRPr lang="en-US" sz="1500" dirty="0"/>
          </a:p>
        </p:txBody>
      </p:sp>
      <p:sp>
        <p:nvSpPr>
          <p:cNvPr id="5" name="Volledige gezondheid"/>
          <p:cNvSpPr/>
          <p:nvPr/>
        </p:nvSpPr>
        <p:spPr>
          <a:xfrm>
            <a:off x="1463040" y="2057400"/>
            <a:ext cx="6400800" cy="2743200"/>
          </a:xfrm>
          <a:prstGeom prst="rect">
            <a:avLst/>
          </a:prstGeom>
          <a:solidFill>
            <a:schemeClr val="bg2"/>
          </a:solidFill>
          <a:ln w="12700">
            <a:solidFill>
              <a:srgbClr val="556675"/>
            </a:solidFill>
            <a:prstDash val="dash"/>
          </a:ln>
        </p:spPr>
        <p:txBody>
          <a:bodyPr/>
          <a:lstStyle/>
          <a:p>
            <a:endParaRPr lang="en-US"/>
          </a:p>
        </p:txBody>
      </p:sp>
      <p:sp>
        <p:nvSpPr>
          <p:cNvPr id="6" name="Kwaliteit 0,70"/>
          <p:cNvSpPr/>
          <p:nvPr/>
        </p:nvSpPr>
        <p:spPr>
          <a:xfrm>
            <a:off x="1463040" y="2880360"/>
            <a:ext cx="6400800" cy="1920240"/>
          </a:xfrm>
          <a:prstGeom prst="rect">
            <a:avLst/>
          </a:prstGeom>
          <a:solidFill>
            <a:schemeClr val="accent2"/>
          </a:solidFill>
          <a:ln/>
        </p:spPr>
        <p:txBody>
          <a:bodyPr/>
          <a:lstStyle/>
          <a:p>
            <a:endParaRPr lang="en-US"/>
          </a:p>
        </p:txBody>
      </p:sp>
      <p:sp>
        <p:nvSpPr>
          <p:cNvPr id="7" name="Text 5"/>
          <p:cNvSpPr txBox="1"/>
          <p:nvPr/>
        </p:nvSpPr>
        <p:spPr>
          <a:xfrm>
            <a:off x="1463040" y="2880360"/>
            <a:ext cx="6400800" cy="1920240"/>
          </a:xfrm>
          <a:prstGeom prst="rect">
            <a:avLst/>
          </a:prstGeom>
          <a:noFill/>
          <a:ln/>
        </p:spPr>
        <p:txBody>
          <a:bodyPr wrap="square" lIns="0" tIns="0" rIns="0" bIns="0" rtlCol="0" anchor="ctr"/>
          <a:lstStyle/>
          <a:p>
            <a:pPr marL="0" indent="0" algn="ctr">
              <a:buNone/>
            </a:pPr>
            <a:r>
              <a:rPr lang="en-US" sz="2200" b="1" dirty="0">
                <a:solidFill>
                  <a:schemeClr val="bg1"/>
                </a:solidFill>
              </a:rPr>
              <a:t>10 jaar met klachten, gewicht 0,70</a:t>
            </a:r>
            <a:endParaRPr lang="en-US" sz="2200" dirty="0"/>
          </a:p>
        </p:txBody>
      </p:sp>
      <p:sp>
        <p:nvSpPr>
          <p:cNvPr id="8" name="Text 6"/>
          <p:cNvSpPr txBox="1"/>
          <p:nvPr/>
        </p:nvSpPr>
        <p:spPr>
          <a:xfrm>
            <a:off x="1463040" y="2057400"/>
            <a:ext cx="6400800" cy="822960"/>
          </a:xfrm>
          <a:prstGeom prst="rect">
            <a:avLst/>
          </a:prstGeom>
          <a:noFill/>
          <a:ln/>
        </p:spPr>
        <p:txBody>
          <a:bodyPr wrap="square" lIns="0" tIns="0" rIns="0" bIns="0" rtlCol="0" anchor="ctr"/>
          <a:lstStyle/>
          <a:p>
            <a:pPr marL="0" indent="0" algn="ctr">
              <a:buNone/>
            </a:pPr>
            <a:r>
              <a:rPr lang="en-US" sz="1500" dirty="0">
                <a:solidFill>
                  <a:schemeClr val="tx2"/>
                </a:solidFill>
              </a:rPr>
              <a:t>verlies door klachten</a:t>
            </a:r>
            <a:endParaRPr lang="en-US" sz="1500" dirty="0"/>
          </a:p>
        </p:txBody>
      </p:sp>
      <p:sp>
        <p:nvSpPr>
          <p:cNvPr id="9" name="Text 7"/>
          <p:cNvSpPr txBox="1"/>
          <p:nvPr/>
        </p:nvSpPr>
        <p:spPr>
          <a:xfrm>
            <a:off x="777240" y="1920240"/>
            <a:ext cx="548640" cy="274320"/>
          </a:xfrm>
          <a:prstGeom prst="rect">
            <a:avLst/>
          </a:prstGeom>
          <a:noFill/>
          <a:ln/>
        </p:spPr>
        <p:txBody>
          <a:bodyPr wrap="square" lIns="0" tIns="0" rIns="0" bIns="0" rtlCol="0" anchor="t"/>
          <a:lstStyle/>
          <a:p>
            <a:pPr marL="0" indent="0" algn="r">
              <a:buNone/>
            </a:pPr>
            <a:r>
              <a:rPr lang="en-US" sz="1400" dirty="0">
                <a:solidFill>
                  <a:schemeClr val="tx2"/>
                </a:solidFill>
              </a:rPr>
              <a:t>1,0</a:t>
            </a:r>
            <a:endParaRPr lang="en-US" sz="1400" dirty="0"/>
          </a:p>
        </p:txBody>
      </p:sp>
      <p:sp>
        <p:nvSpPr>
          <p:cNvPr id="10" name="Text 8"/>
          <p:cNvSpPr txBox="1"/>
          <p:nvPr/>
        </p:nvSpPr>
        <p:spPr>
          <a:xfrm>
            <a:off x="777240" y="2743200"/>
            <a:ext cx="548640" cy="274320"/>
          </a:xfrm>
          <a:prstGeom prst="rect">
            <a:avLst/>
          </a:prstGeom>
          <a:noFill/>
          <a:ln/>
        </p:spPr>
        <p:txBody>
          <a:bodyPr wrap="square" lIns="0" tIns="0" rIns="0" bIns="0" rtlCol="0" anchor="t"/>
          <a:lstStyle/>
          <a:p>
            <a:pPr marL="0" indent="0" algn="r">
              <a:buNone/>
            </a:pPr>
            <a:r>
              <a:rPr lang="en-US" sz="1400" dirty="0">
                <a:solidFill>
                  <a:schemeClr val="tx2"/>
                </a:solidFill>
              </a:rPr>
              <a:t>0,7</a:t>
            </a:r>
            <a:endParaRPr lang="en-US" sz="1400" dirty="0"/>
          </a:p>
        </p:txBody>
      </p:sp>
      <p:sp>
        <p:nvSpPr>
          <p:cNvPr id="11" name="Text 9"/>
          <p:cNvSpPr txBox="1"/>
          <p:nvPr/>
        </p:nvSpPr>
        <p:spPr>
          <a:xfrm>
            <a:off x="777240" y="4663440"/>
            <a:ext cx="548640" cy="274320"/>
          </a:xfrm>
          <a:prstGeom prst="rect">
            <a:avLst/>
          </a:prstGeom>
          <a:noFill/>
          <a:ln/>
        </p:spPr>
        <p:txBody>
          <a:bodyPr wrap="square" lIns="0" tIns="0" rIns="0" bIns="0" rtlCol="0" anchor="t"/>
          <a:lstStyle/>
          <a:p>
            <a:pPr marL="0" indent="0" algn="r">
              <a:buNone/>
            </a:pPr>
            <a:r>
              <a:rPr lang="en-US" sz="1400" dirty="0">
                <a:solidFill>
                  <a:schemeClr val="tx2"/>
                </a:solidFill>
              </a:rPr>
              <a:t>0</a:t>
            </a:r>
            <a:endParaRPr lang="en-US" sz="1400" dirty="0"/>
          </a:p>
        </p:txBody>
      </p:sp>
      <p:sp>
        <p:nvSpPr>
          <p:cNvPr id="12" name="Text 10"/>
          <p:cNvSpPr txBox="1"/>
          <p:nvPr/>
        </p:nvSpPr>
        <p:spPr>
          <a:xfrm>
            <a:off x="576072" y="4937760"/>
            <a:ext cx="1463040" cy="274320"/>
          </a:xfrm>
          <a:prstGeom prst="rect">
            <a:avLst/>
          </a:prstGeom>
          <a:noFill/>
          <a:ln/>
        </p:spPr>
        <p:txBody>
          <a:bodyPr wrap="square" lIns="0" tIns="0" rIns="0" bIns="0" rtlCol="0" anchor="t"/>
          <a:lstStyle/>
          <a:p>
            <a:pPr marL="0" indent="0">
              <a:buNone/>
            </a:pPr>
            <a:r>
              <a:rPr lang="en-US" sz="1200" dirty="0">
                <a:solidFill>
                  <a:schemeClr val="tx2"/>
                </a:solidFill>
              </a:rPr>
              <a:t>Kwaliteit</a:t>
            </a:r>
            <a:endParaRPr lang="en-US" sz="1200" dirty="0"/>
          </a:p>
        </p:txBody>
      </p:sp>
      <p:sp>
        <p:nvSpPr>
          <p:cNvPr id="13" name="Text 11"/>
          <p:cNvSpPr txBox="1"/>
          <p:nvPr/>
        </p:nvSpPr>
        <p:spPr>
          <a:xfrm>
            <a:off x="1463040" y="4937760"/>
            <a:ext cx="6400800" cy="320040"/>
          </a:xfrm>
          <a:prstGeom prst="rect">
            <a:avLst/>
          </a:prstGeom>
          <a:noFill/>
          <a:ln/>
        </p:spPr>
        <p:txBody>
          <a:bodyPr wrap="square" lIns="0" tIns="0" rIns="0" bIns="0" rtlCol="0" anchor="t"/>
          <a:lstStyle/>
          <a:p>
            <a:pPr marL="0" indent="0" algn="ctr">
              <a:buNone/>
            </a:pPr>
            <a:r>
              <a:rPr lang="en-US" sz="1400" dirty="0">
                <a:solidFill>
                  <a:schemeClr val="tx2"/>
                </a:solidFill>
              </a:rPr>
              <a:t>Tijd: 10 jaar  →</a:t>
            </a:r>
            <a:endParaRPr lang="en-US" sz="1400" dirty="0"/>
          </a:p>
        </p:txBody>
      </p:sp>
      <p:sp>
        <p:nvSpPr>
          <p:cNvPr id="14" name="Uitkomst"/>
          <p:cNvSpPr/>
          <p:nvPr/>
        </p:nvSpPr>
        <p:spPr>
          <a:xfrm>
            <a:off x="8321040" y="2057400"/>
            <a:ext cx="3200400" cy="2743200"/>
          </a:xfrm>
          <a:prstGeom prst="roundRect">
            <a:avLst>
              <a:gd name="adj" fmla="val 4000"/>
            </a:avLst>
          </a:prstGeom>
          <a:solidFill>
            <a:schemeClr val="bg2"/>
          </a:solidFill>
          <a:ln/>
        </p:spPr>
        <p:txBody>
          <a:bodyPr/>
          <a:lstStyle/>
          <a:p>
            <a:endParaRPr lang="en-US"/>
          </a:p>
        </p:txBody>
      </p:sp>
      <p:sp>
        <p:nvSpPr>
          <p:cNvPr id="15" name="Text 13"/>
          <p:cNvSpPr txBox="1"/>
          <p:nvPr/>
        </p:nvSpPr>
        <p:spPr>
          <a:xfrm>
            <a:off x="8549640" y="2286000"/>
            <a:ext cx="2743200" cy="548640"/>
          </a:xfrm>
          <a:prstGeom prst="rect">
            <a:avLst/>
          </a:prstGeom>
          <a:noFill/>
          <a:ln/>
        </p:spPr>
        <p:txBody>
          <a:bodyPr wrap="square" lIns="0" tIns="0" rIns="0" bIns="0" rtlCol="0" anchor="t"/>
          <a:lstStyle/>
          <a:p>
            <a:pPr marL="0" indent="0">
              <a:buNone/>
            </a:pPr>
            <a:r>
              <a:rPr lang="en-US" sz="2600" b="1" dirty="0">
                <a:solidFill>
                  <a:schemeClr val="tx2"/>
                </a:solidFill>
              </a:rPr>
              <a:t>10 × 0,70</a:t>
            </a:r>
            <a:endParaRPr lang="en-US" sz="2600" dirty="0"/>
          </a:p>
        </p:txBody>
      </p:sp>
      <p:sp>
        <p:nvSpPr>
          <p:cNvPr id="16" name="Text 14"/>
          <p:cNvSpPr txBox="1"/>
          <p:nvPr/>
        </p:nvSpPr>
        <p:spPr>
          <a:xfrm>
            <a:off x="8549640" y="2880360"/>
            <a:ext cx="2743200" cy="822960"/>
          </a:xfrm>
          <a:prstGeom prst="rect">
            <a:avLst/>
          </a:prstGeom>
          <a:noFill/>
          <a:ln/>
        </p:spPr>
        <p:txBody>
          <a:bodyPr wrap="square" lIns="0" tIns="0" rIns="0" bIns="0" rtlCol="0" anchor="t"/>
          <a:lstStyle/>
          <a:p>
            <a:pPr marL="0" indent="0">
              <a:buNone/>
            </a:pPr>
            <a:r>
              <a:rPr lang="en-US" sz="4000" b="1" dirty="0">
                <a:solidFill>
                  <a:schemeClr val="accent2"/>
                </a:solidFill>
              </a:rPr>
              <a:t>= 7 QALY</a:t>
            </a:r>
            <a:endParaRPr lang="en-US" sz="4000" dirty="0"/>
          </a:p>
        </p:txBody>
      </p:sp>
      <p:sp>
        <p:nvSpPr>
          <p:cNvPr id="17" name="Text 15"/>
          <p:cNvSpPr txBox="1"/>
          <p:nvPr/>
        </p:nvSpPr>
        <p:spPr>
          <a:xfrm>
            <a:off x="8549640" y="3749040"/>
            <a:ext cx="2743200" cy="822960"/>
          </a:xfrm>
          <a:prstGeom prst="rect">
            <a:avLst/>
          </a:prstGeom>
          <a:noFill/>
          <a:ln/>
        </p:spPr>
        <p:txBody>
          <a:bodyPr wrap="square" lIns="0" tIns="0" rIns="0" bIns="0" rtlCol="0" anchor="t"/>
          <a:lstStyle/>
          <a:p>
            <a:pPr marL="0" indent="0">
              <a:buNone/>
            </a:pPr>
            <a:r>
              <a:rPr lang="en-US" sz="1500" dirty="0">
                <a:solidFill>
                  <a:schemeClr val="tx2"/>
                </a:solidFill>
              </a:rPr>
              <a:t>even veel als 7 jaar in volledige gezondheid</a:t>
            </a:r>
            <a:endParaRPr lang="en-US" sz="1500" dirty="0"/>
          </a:p>
        </p:txBody>
      </p:sp>
      <p:sp>
        <p:nvSpPr>
          <p:cNvPr id="18" name="Vraag"/>
          <p:cNvSpPr/>
          <p:nvPr/>
        </p:nvSpPr>
        <p:spPr>
          <a:xfrm>
            <a:off x="667512" y="5440680"/>
            <a:ext cx="10856671" cy="685800"/>
          </a:xfrm>
          <a:prstGeom prst="roundRect">
            <a:avLst>
              <a:gd name="adj" fmla="val 16000"/>
            </a:avLst>
          </a:prstGeom>
          <a:solidFill>
            <a:schemeClr val="accent1">
              <a:alpha val="12000"/>
            </a:schemeClr>
          </a:solidFill>
          <a:ln/>
        </p:spPr>
        <p:txBody>
          <a:bodyPr/>
          <a:lstStyle/>
          <a:p>
            <a:endParaRPr lang="en-US"/>
          </a:p>
        </p:txBody>
      </p:sp>
      <p:sp>
        <p:nvSpPr>
          <p:cNvPr id="19" name="Text 17"/>
          <p:cNvSpPr txBox="1"/>
          <p:nvPr/>
        </p:nvSpPr>
        <p:spPr>
          <a:xfrm>
            <a:off x="941832" y="5440680"/>
            <a:ext cx="10308031" cy="685800"/>
          </a:xfrm>
          <a:prstGeom prst="rect">
            <a:avLst/>
          </a:prstGeom>
          <a:noFill/>
          <a:ln/>
        </p:spPr>
        <p:txBody>
          <a:bodyPr wrap="square" lIns="0" tIns="0" rIns="0" bIns="0" rtlCol="0" anchor="ctr"/>
          <a:lstStyle/>
          <a:p>
            <a:pPr marL="0" indent="0">
              <a:buNone/>
            </a:pPr>
            <a:r>
              <a:rPr lang="en-US" sz="1800" b="1" dirty="0">
                <a:solidFill>
                  <a:schemeClr val="tx1"/>
                </a:solidFill>
              </a:rPr>
              <a:t>Maar waar komt die 0,70 vandaan? Die vragen we aan mensen.</a:t>
            </a:r>
            <a:endParaRPr lang="en-US" sz="1800" dirty="0"/>
          </a:p>
        </p:txBody>
      </p:sp>
      <p:sp>
        <p:nvSpPr>
          <p:cNvPr id="20" name="Bron"/>
          <p:cNvSpPr txBox="1"/>
          <p:nvPr/>
        </p:nvSpPr>
        <p:spPr>
          <a:xfrm>
            <a:off x="667512" y="6327648"/>
            <a:ext cx="10424160" cy="292608"/>
          </a:xfrm>
          <a:prstGeom prst="rect">
            <a:avLst/>
          </a:prstGeom>
          <a:noFill/>
          <a:ln/>
        </p:spPr>
        <p:txBody>
          <a:bodyPr wrap="square" lIns="0" tIns="0" rIns="0" bIns="0" rtlCol="0" anchor="t"/>
          <a:lstStyle/>
          <a:p>
            <a:pPr marL="0" indent="0">
              <a:buNone/>
            </a:pPr>
            <a:r>
              <a:rPr lang="en-US" sz="1000" dirty="0">
                <a:solidFill>
                  <a:schemeClr val="tx2"/>
                </a:solidFill>
              </a:rPr>
              <a:t>Fictief voorbeeld.</a:t>
            </a:r>
            <a:endParaRPr lang="en-US" sz="10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Time trade-off: de vraag" descr="Time trade-off: de vraa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Time trade-off: van antwoord naar gewicht" descr="Time trade-off: van antwoord naar gewicht"/>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tandard gamble: van antwoord naar gewicht" descr="Standard gamble: van antwoord naar gewicht"/>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EQ-5D-5L: vijf domeinen, vijf niveaus, Nederlandse waardering" descr="EQ-5D-5L: vijf domeinen, vijf niveaus, Nederlandse waarderi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Rekenvoorbeeld: van gezondheidsprofiel naar QALY-gewicht" descr="Rekenvoorbeeld: van gezondheidsprofiel naar QALY-gewicht"/>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DE PRIJS VAN EEN GEZOND JAAR</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Wat mag een QALY kosten?</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Het Zorginstituut hanteert referentiewaarden, afhankelijk van hoe zwaar een ziekte is</a:t>
            </a:r>
            <a:endParaRPr lang="en-US" sz="1500" dirty="0"/>
          </a:p>
        </p:txBody>
      </p:sp>
      <p:sp>
        <p:nvSpPr>
          <p:cNvPr id="5" name="€ 20.000"/>
          <p:cNvSpPr/>
          <p:nvPr/>
        </p:nvSpPr>
        <p:spPr>
          <a:xfrm>
            <a:off x="667512" y="1828800"/>
            <a:ext cx="3375050" cy="2468880"/>
          </a:xfrm>
          <a:prstGeom prst="roundRect">
            <a:avLst>
              <a:gd name="adj" fmla="val 4444"/>
            </a:avLst>
          </a:prstGeom>
          <a:solidFill>
            <a:schemeClr val="bg2"/>
          </a:solidFill>
          <a:ln/>
        </p:spPr>
        <p:txBody>
          <a:bodyPr/>
          <a:lstStyle/>
          <a:p>
            <a:endParaRPr lang="en-US"/>
          </a:p>
        </p:txBody>
      </p:sp>
      <p:sp>
        <p:nvSpPr>
          <p:cNvPr id="6" name="Text 4"/>
          <p:cNvSpPr txBox="1"/>
          <p:nvPr/>
        </p:nvSpPr>
        <p:spPr>
          <a:xfrm>
            <a:off x="941832" y="2103120"/>
            <a:ext cx="2826410" cy="914400"/>
          </a:xfrm>
          <a:prstGeom prst="rect">
            <a:avLst/>
          </a:prstGeom>
          <a:noFill/>
          <a:ln/>
        </p:spPr>
        <p:txBody>
          <a:bodyPr wrap="square" lIns="0" tIns="0" rIns="0" bIns="0" rtlCol="0" anchor="t"/>
          <a:lstStyle/>
          <a:p>
            <a:pPr marL="0" indent="0">
              <a:buNone/>
            </a:pPr>
            <a:r>
              <a:rPr lang="en-US" sz="4400" b="1" dirty="0">
                <a:solidFill>
                  <a:schemeClr val="accent1"/>
                </a:solidFill>
              </a:rPr>
              <a:t>€ 20.000</a:t>
            </a:r>
            <a:endParaRPr lang="en-US" sz="4400" dirty="0"/>
          </a:p>
        </p:txBody>
      </p:sp>
      <p:sp>
        <p:nvSpPr>
          <p:cNvPr id="7" name="Text 5"/>
          <p:cNvSpPr txBox="1"/>
          <p:nvPr/>
        </p:nvSpPr>
        <p:spPr>
          <a:xfrm>
            <a:off x="941832" y="3017520"/>
            <a:ext cx="2826410" cy="411480"/>
          </a:xfrm>
          <a:prstGeom prst="rect">
            <a:avLst/>
          </a:prstGeom>
          <a:noFill/>
          <a:ln/>
        </p:spPr>
        <p:txBody>
          <a:bodyPr wrap="square" lIns="0" tIns="0" rIns="0" bIns="0" rtlCol="0" anchor="t"/>
          <a:lstStyle/>
          <a:p>
            <a:pPr marL="0" indent="0">
              <a:buNone/>
            </a:pPr>
            <a:r>
              <a:rPr lang="en-US" sz="1800" b="1" dirty="0">
                <a:solidFill>
                  <a:schemeClr val="tx1"/>
                </a:solidFill>
              </a:rPr>
              <a:t>per QALY</a:t>
            </a:r>
            <a:endParaRPr lang="en-US" sz="1800" dirty="0"/>
          </a:p>
        </p:txBody>
      </p:sp>
      <p:sp>
        <p:nvSpPr>
          <p:cNvPr id="8" name="Text 6"/>
          <p:cNvSpPr txBox="1"/>
          <p:nvPr/>
        </p:nvSpPr>
        <p:spPr>
          <a:xfrm>
            <a:off x="941832" y="3474720"/>
            <a:ext cx="2826410" cy="548640"/>
          </a:xfrm>
          <a:prstGeom prst="rect">
            <a:avLst/>
          </a:prstGeom>
          <a:noFill/>
          <a:ln/>
        </p:spPr>
        <p:txBody>
          <a:bodyPr wrap="square" lIns="0" tIns="0" rIns="0" bIns="0" rtlCol="0" anchor="t"/>
          <a:lstStyle/>
          <a:p>
            <a:pPr marL="0" indent="0">
              <a:buNone/>
            </a:pPr>
            <a:r>
              <a:rPr lang="en-US" sz="1500" dirty="0">
                <a:solidFill>
                  <a:schemeClr val="tx2"/>
                </a:solidFill>
              </a:rPr>
              <a:t>bij lagere ziektelast</a:t>
            </a:r>
            <a:endParaRPr lang="en-US" sz="1500" dirty="0"/>
          </a:p>
        </p:txBody>
      </p:sp>
      <p:sp>
        <p:nvSpPr>
          <p:cNvPr id="9" name="€ 50.000"/>
          <p:cNvSpPr/>
          <p:nvPr/>
        </p:nvSpPr>
        <p:spPr>
          <a:xfrm>
            <a:off x="4408322" y="1828800"/>
            <a:ext cx="3375050" cy="2468880"/>
          </a:xfrm>
          <a:prstGeom prst="roundRect">
            <a:avLst>
              <a:gd name="adj" fmla="val 4444"/>
            </a:avLst>
          </a:prstGeom>
          <a:solidFill>
            <a:schemeClr val="bg2"/>
          </a:solidFill>
          <a:ln/>
        </p:spPr>
        <p:txBody>
          <a:bodyPr/>
          <a:lstStyle/>
          <a:p>
            <a:endParaRPr lang="en-US"/>
          </a:p>
        </p:txBody>
      </p:sp>
      <p:sp>
        <p:nvSpPr>
          <p:cNvPr id="10" name="Text 8"/>
          <p:cNvSpPr txBox="1"/>
          <p:nvPr/>
        </p:nvSpPr>
        <p:spPr>
          <a:xfrm>
            <a:off x="4682642" y="2103120"/>
            <a:ext cx="2826410" cy="914400"/>
          </a:xfrm>
          <a:prstGeom prst="rect">
            <a:avLst/>
          </a:prstGeom>
          <a:noFill/>
          <a:ln/>
        </p:spPr>
        <p:txBody>
          <a:bodyPr wrap="square" lIns="0" tIns="0" rIns="0" bIns="0" rtlCol="0" anchor="t"/>
          <a:lstStyle/>
          <a:p>
            <a:pPr marL="0" indent="0">
              <a:buNone/>
            </a:pPr>
            <a:r>
              <a:rPr lang="en-US" sz="4400" b="1" dirty="0">
                <a:solidFill>
                  <a:schemeClr val="accent5"/>
                </a:solidFill>
              </a:rPr>
              <a:t>€ 50.000</a:t>
            </a:r>
            <a:endParaRPr lang="en-US" sz="4400" dirty="0"/>
          </a:p>
        </p:txBody>
      </p:sp>
      <p:sp>
        <p:nvSpPr>
          <p:cNvPr id="11" name="Text 9"/>
          <p:cNvSpPr txBox="1"/>
          <p:nvPr/>
        </p:nvSpPr>
        <p:spPr>
          <a:xfrm>
            <a:off x="4682642" y="3017520"/>
            <a:ext cx="2826410" cy="411480"/>
          </a:xfrm>
          <a:prstGeom prst="rect">
            <a:avLst/>
          </a:prstGeom>
          <a:noFill/>
          <a:ln/>
        </p:spPr>
        <p:txBody>
          <a:bodyPr wrap="square" lIns="0" tIns="0" rIns="0" bIns="0" rtlCol="0" anchor="t"/>
          <a:lstStyle/>
          <a:p>
            <a:pPr marL="0" indent="0">
              <a:buNone/>
            </a:pPr>
            <a:r>
              <a:rPr lang="en-US" sz="1800" b="1" dirty="0">
                <a:solidFill>
                  <a:schemeClr val="tx1"/>
                </a:solidFill>
              </a:rPr>
              <a:t>per QALY</a:t>
            </a:r>
            <a:endParaRPr lang="en-US" sz="1800" dirty="0"/>
          </a:p>
        </p:txBody>
      </p:sp>
      <p:sp>
        <p:nvSpPr>
          <p:cNvPr id="12" name="Text 10"/>
          <p:cNvSpPr txBox="1"/>
          <p:nvPr/>
        </p:nvSpPr>
        <p:spPr>
          <a:xfrm>
            <a:off x="4682642" y="3474720"/>
            <a:ext cx="2826410" cy="548640"/>
          </a:xfrm>
          <a:prstGeom prst="rect">
            <a:avLst/>
          </a:prstGeom>
          <a:noFill/>
          <a:ln/>
        </p:spPr>
        <p:txBody>
          <a:bodyPr wrap="square" lIns="0" tIns="0" rIns="0" bIns="0" rtlCol="0" anchor="t"/>
          <a:lstStyle/>
          <a:p>
            <a:pPr marL="0" indent="0">
              <a:buNone/>
            </a:pPr>
            <a:r>
              <a:rPr lang="en-US" sz="1500" dirty="0">
                <a:solidFill>
                  <a:schemeClr val="tx2"/>
                </a:solidFill>
              </a:rPr>
              <a:t>bij middelhoge ziektelast</a:t>
            </a:r>
            <a:endParaRPr lang="en-US" sz="1500" dirty="0"/>
          </a:p>
        </p:txBody>
      </p:sp>
      <p:sp>
        <p:nvSpPr>
          <p:cNvPr id="13" name="€ 80.000"/>
          <p:cNvSpPr/>
          <p:nvPr/>
        </p:nvSpPr>
        <p:spPr>
          <a:xfrm>
            <a:off x="8149133" y="1828800"/>
            <a:ext cx="3375050" cy="2468880"/>
          </a:xfrm>
          <a:prstGeom prst="roundRect">
            <a:avLst>
              <a:gd name="adj" fmla="val 4444"/>
            </a:avLst>
          </a:prstGeom>
          <a:solidFill>
            <a:schemeClr val="bg2"/>
          </a:solidFill>
          <a:ln/>
        </p:spPr>
        <p:txBody>
          <a:bodyPr/>
          <a:lstStyle/>
          <a:p>
            <a:endParaRPr lang="en-US"/>
          </a:p>
        </p:txBody>
      </p:sp>
      <p:sp>
        <p:nvSpPr>
          <p:cNvPr id="14" name="Text 12"/>
          <p:cNvSpPr txBox="1"/>
          <p:nvPr/>
        </p:nvSpPr>
        <p:spPr>
          <a:xfrm>
            <a:off x="8423453" y="2103120"/>
            <a:ext cx="2826410" cy="914400"/>
          </a:xfrm>
          <a:prstGeom prst="rect">
            <a:avLst/>
          </a:prstGeom>
          <a:noFill/>
          <a:ln/>
        </p:spPr>
        <p:txBody>
          <a:bodyPr wrap="square" lIns="0" tIns="0" rIns="0" bIns="0" rtlCol="0" anchor="t"/>
          <a:lstStyle/>
          <a:p>
            <a:pPr marL="0" indent="0">
              <a:buNone/>
            </a:pPr>
            <a:r>
              <a:rPr lang="en-US" sz="4400" b="1" dirty="0">
                <a:solidFill>
                  <a:schemeClr val="accent3"/>
                </a:solidFill>
              </a:rPr>
              <a:t>€ 80.000</a:t>
            </a:r>
            <a:endParaRPr lang="en-US" sz="4400" dirty="0"/>
          </a:p>
        </p:txBody>
      </p:sp>
      <p:sp>
        <p:nvSpPr>
          <p:cNvPr id="15" name="Text 13"/>
          <p:cNvSpPr txBox="1"/>
          <p:nvPr/>
        </p:nvSpPr>
        <p:spPr>
          <a:xfrm>
            <a:off x="8423453" y="3017520"/>
            <a:ext cx="2826410" cy="411480"/>
          </a:xfrm>
          <a:prstGeom prst="rect">
            <a:avLst/>
          </a:prstGeom>
          <a:noFill/>
          <a:ln/>
        </p:spPr>
        <p:txBody>
          <a:bodyPr wrap="square" lIns="0" tIns="0" rIns="0" bIns="0" rtlCol="0" anchor="t"/>
          <a:lstStyle/>
          <a:p>
            <a:pPr marL="0" indent="0">
              <a:buNone/>
            </a:pPr>
            <a:r>
              <a:rPr lang="en-US" sz="1800" b="1" dirty="0">
                <a:solidFill>
                  <a:schemeClr val="tx1"/>
                </a:solidFill>
              </a:rPr>
              <a:t>per QALY</a:t>
            </a:r>
            <a:endParaRPr lang="en-US" sz="1800" dirty="0"/>
          </a:p>
        </p:txBody>
      </p:sp>
      <p:sp>
        <p:nvSpPr>
          <p:cNvPr id="16" name="Text 14"/>
          <p:cNvSpPr txBox="1"/>
          <p:nvPr/>
        </p:nvSpPr>
        <p:spPr>
          <a:xfrm>
            <a:off x="8423453" y="3474720"/>
            <a:ext cx="2826410" cy="548640"/>
          </a:xfrm>
          <a:prstGeom prst="rect">
            <a:avLst/>
          </a:prstGeom>
          <a:noFill/>
          <a:ln/>
        </p:spPr>
        <p:txBody>
          <a:bodyPr wrap="square" lIns="0" tIns="0" rIns="0" bIns="0" rtlCol="0" anchor="t"/>
          <a:lstStyle/>
          <a:p>
            <a:pPr marL="0" indent="0">
              <a:buNone/>
            </a:pPr>
            <a:r>
              <a:rPr lang="en-US" sz="1500" dirty="0">
                <a:solidFill>
                  <a:schemeClr val="tx2"/>
                </a:solidFill>
              </a:rPr>
              <a:t>bij de hoogste ziektelast</a:t>
            </a:r>
            <a:endParaRPr lang="en-US" sz="1500" dirty="0"/>
          </a:p>
        </p:txBody>
      </p:sp>
      <p:sp>
        <p:nvSpPr>
          <p:cNvPr id="17" name="Les van Seattle"/>
          <p:cNvSpPr/>
          <p:nvPr/>
        </p:nvSpPr>
        <p:spPr>
          <a:xfrm>
            <a:off x="667512" y="4663440"/>
            <a:ext cx="10856671" cy="1371600"/>
          </a:xfrm>
          <a:prstGeom prst="roundRect">
            <a:avLst>
              <a:gd name="adj" fmla="val 8000"/>
            </a:avLst>
          </a:prstGeom>
          <a:solidFill>
            <a:schemeClr val="tx1"/>
          </a:solidFill>
          <a:ln/>
        </p:spPr>
        <p:txBody>
          <a:bodyPr/>
          <a:lstStyle/>
          <a:p>
            <a:endParaRPr lang="en-US"/>
          </a:p>
        </p:txBody>
      </p:sp>
      <p:sp>
        <p:nvSpPr>
          <p:cNvPr id="18" name="Text 16"/>
          <p:cNvSpPr txBox="1"/>
          <p:nvPr/>
        </p:nvSpPr>
        <p:spPr>
          <a:xfrm>
            <a:off x="987552" y="4800600"/>
            <a:ext cx="10216591" cy="548640"/>
          </a:xfrm>
          <a:prstGeom prst="rect">
            <a:avLst/>
          </a:prstGeom>
          <a:noFill/>
          <a:ln/>
        </p:spPr>
        <p:txBody>
          <a:bodyPr wrap="square" lIns="0" tIns="0" rIns="0" bIns="0" rtlCol="0" anchor="t"/>
          <a:lstStyle/>
          <a:p>
            <a:pPr marL="0" indent="0">
              <a:buNone/>
            </a:pPr>
            <a:r>
              <a:rPr lang="en-US" sz="2400" b="1" dirty="0">
                <a:solidFill>
                  <a:schemeClr val="bg1"/>
                </a:solidFill>
              </a:rPr>
              <a:t>We meten gezondheid, niet iemands waarde.</a:t>
            </a:r>
            <a:endParaRPr lang="en-US" sz="2400" dirty="0"/>
          </a:p>
        </p:txBody>
      </p:sp>
      <p:sp>
        <p:nvSpPr>
          <p:cNvPr id="19" name="Text 17"/>
          <p:cNvSpPr txBox="1"/>
          <p:nvPr/>
        </p:nvSpPr>
        <p:spPr>
          <a:xfrm>
            <a:off x="987552" y="5349240"/>
            <a:ext cx="10216591" cy="502920"/>
          </a:xfrm>
          <a:prstGeom prst="rect">
            <a:avLst/>
          </a:prstGeom>
          <a:noFill/>
          <a:ln/>
        </p:spPr>
        <p:txBody>
          <a:bodyPr wrap="square" lIns="0" tIns="0" rIns="0" bIns="0" rtlCol="0" anchor="t"/>
          <a:lstStyle/>
          <a:p>
            <a:pPr marL="0" indent="0">
              <a:buNone/>
            </a:pPr>
            <a:r>
              <a:rPr lang="en-US" sz="1600" dirty="0">
                <a:solidFill>
                  <a:schemeClr val="bg2"/>
                </a:solidFill>
              </a:rPr>
              <a:t>Dat is de les van Seattle: dezelfde regels voor iedereen, en niemand telt minder.</a:t>
            </a:r>
            <a:endParaRPr lang="en-US" sz="1600" dirty="0"/>
          </a:p>
        </p:txBody>
      </p:sp>
      <p:sp>
        <p:nvSpPr>
          <p:cNvPr id="20" name="Bron"/>
          <p:cNvSpPr txBox="1"/>
          <p:nvPr/>
        </p:nvSpPr>
        <p:spPr>
          <a:xfrm>
            <a:off x="667512" y="6327648"/>
            <a:ext cx="10424160" cy="292608"/>
          </a:xfrm>
          <a:prstGeom prst="rect">
            <a:avLst/>
          </a:prstGeom>
          <a:noFill/>
          <a:ln/>
        </p:spPr>
        <p:txBody>
          <a:bodyPr wrap="square" lIns="0" tIns="0" rIns="0" bIns="0" rtlCol="0" anchor="t"/>
          <a:lstStyle/>
          <a:p>
            <a:pPr marL="0" indent="0">
              <a:buNone/>
            </a:pPr>
            <a:r>
              <a:rPr lang="en-US" sz="1000" dirty="0">
                <a:solidFill>
                  <a:schemeClr val="tx2"/>
                </a:solidFill>
              </a:rPr>
              <a:t>Bron: Zorginstituut Nederland (2015). Kosteneffectiviteit in de praktijk. Ziektelast bepaald met de ‘proportional shortfall’.</a:t>
            </a:r>
            <a:endParaRPr lang="en-US" sz="10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DE TOEKOMST</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Gezond en wel naar de afgrond?</a:t>
            </a:r>
            <a:endParaRPr lang="en-US" sz="2800" dirty="0"/>
          </a:p>
        </p:txBody>
      </p:sp>
      <p:sp>
        <p:nvSpPr>
          <p:cNvPr id="5" name="Wat we meten"/>
          <p:cNvSpPr/>
          <p:nvPr/>
        </p:nvSpPr>
        <p:spPr>
          <a:xfrm>
            <a:off x="667512" y="1783080"/>
            <a:ext cx="5212080" cy="3108960"/>
          </a:xfrm>
          <a:prstGeom prst="roundRect">
            <a:avLst>
              <a:gd name="adj" fmla="val 3529"/>
            </a:avLst>
          </a:prstGeom>
          <a:solidFill>
            <a:schemeClr val="bg2"/>
          </a:solidFill>
          <a:ln/>
        </p:spPr>
        <p:txBody>
          <a:bodyPr/>
          <a:lstStyle/>
          <a:p>
            <a:endParaRPr lang="en-US"/>
          </a:p>
        </p:txBody>
      </p:sp>
      <p:sp>
        <p:nvSpPr>
          <p:cNvPr id="6" name="Text 4"/>
          <p:cNvSpPr txBox="1"/>
          <p:nvPr/>
        </p:nvSpPr>
        <p:spPr>
          <a:xfrm>
            <a:off x="987552" y="1965960"/>
            <a:ext cx="4572000" cy="411480"/>
          </a:xfrm>
          <a:prstGeom prst="rect">
            <a:avLst/>
          </a:prstGeom>
          <a:noFill/>
          <a:ln/>
        </p:spPr>
        <p:txBody>
          <a:bodyPr wrap="square" lIns="0" tIns="0" rIns="0" bIns="0" rtlCol="0" anchor="t"/>
          <a:lstStyle/>
          <a:p>
            <a:pPr marL="0" indent="0">
              <a:buNone/>
            </a:pPr>
            <a:r>
              <a:rPr lang="en-US" sz="2000" b="1" dirty="0">
                <a:solidFill>
                  <a:schemeClr val="tx1"/>
                </a:solidFill>
              </a:rPr>
              <a:t>Wat we meten</a:t>
            </a:r>
            <a:endParaRPr lang="en-US" sz="2000" dirty="0"/>
          </a:p>
        </p:txBody>
      </p:sp>
      <p:sp>
        <p:nvSpPr>
          <p:cNvPr id="7" name="Domein Mobiliteit"/>
          <p:cNvSpPr/>
          <p:nvPr/>
        </p:nvSpPr>
        <p:spPr>
          <a:xfrm>
            <a:off x="1033272" y="2596896"/>
            <a:ext cx="219456" cy="219456"/>
          </a:xfrm>
          <a:prstGeom prst="ellipse">
            <a:avLst/>
          </a:prstGeom>
          <a:solidFill>
            <a:schemeClr val="accent1"/>
          </a:solidFill>
          <a:ln/>
        </p:spPr>
        <p:txBody>
          <a:bodyPr/>
          <a:lstStyle/>
          <a:p>
            <a:endParaRPr lang="en-US"/>
          </a:p>
        </p:txBody>
      </p:sp>
      <p:sp>
        <p:nvSpPr>
          <p:cNvPr id="8" name="Text 6"/>
          <p:cNvSpPr txBox="1"/>
          <p:nvPr/>
        </p:nvSpPr>
        <p:spPr>
          <a:xfrm>
            <a:off x="1444752" y="2514600"/>
            <a:ext cx="4114800" cy="384048"/>
          </a:xfrm>
          <a:prstGeom prst="rect">
            <a:avLst/>
          </a:prstGeom>
          <a:noFill/>
          <a:ln/>
        </p:spPr>
        <p:txBody>
          <a:bodyPr wrap="square" lIns="0" tIns="0" rIns="0" bIns="0" rtlCol="0" anchor="ctr"/>
          <a:lstStyle/>
          <a:p>
            <a:pPr marL="0" indent="0">
              <a:buNone/>
            </a:pPr>
            <a:r>
              <a:rPr lang="en-US" sz="1600" dirty="0">
                <a:solidFill>
                  <a:schemeClr val="tx1"/>
                </a:solidFill>
              </a:rPr>
              <a:t>Mobiliteit</a:t>
            </a:r>
            <a:endParaRPr lang="en-US" sz="1600" dirty="0"/>
          </a:p>
        </p:txBody>
      </p:sp>
      <p:sp>
        <p:nvSpPr>
          <p:cNvPr id="9" name="Domein Zelfzorg"/>
          <p:cNvSpPr/>
          <p:nvPr/>
        </p:nvSpPr>
        <p:spPr>
          <a:xfrm>
            <a:off x="1033272" y="3054096"/>
            <a:ext cx="219456" cy="219456"/>
          </a:xfrm>
          <a:prstGeom prst="ellipse">
            <a:avLst/>
          </a:prstGeom>
          <a:solidFill>
            <a:schemeClr val="accent1"/>
          </a:solidFill>
          <a:ln/>
        </p:spPr>
        <p:txBody>
          <a:bodyPr/>
          <a:lstStyle/>
          <a:p>
            <a:endParaRPr lang="en-US"/>
          </a:p>
        </p:txBody>
      </p:sp>
      <p:sp>
        <p:nvSpPr>
          <p:cNvPr id="10" name="Text 8"/>
          <p:cNvSpPr txBox="1"/>
          <p:nvPr/>
        </p:nvSpPr>
        <p:spPr>
          <a:xfrm>
            <a:off x="1444752" y="2971800"/>
            <a:ext cx="4114800" cy="384048"/>
          </a:xfrm>
          <a:prstGeom prst="rect">
            <a:avLst/>
          </a:prstGeom>
          <a:noFill/>
          <a:ln/>
        </p:spPr>
        <p:txBody>
          <a:bodyPr wrap="square" lIns="0" tIns="0" rIns="0" bIns="0" rtlCol="0" anchor="ctr"/>
          <a:lstStyle/>
          <a:p>
            <a:pPr marL="0" indent="0">
              <a:buNone/>
            </a:pPr>
            <a:r>
              <a:rPr lang="en-US" sz="1600" dirty="0">
                <a:solidFill>
                  <a:schemeClr val="tx1"/>
                </a:solidFill>
              </a:rPr>
              <a:t>Zelfzorg</a:t>
            </a:r>
            <a:endParaRPr lang="en-US" sz="1600" dirty="0"/>
          </a:p>
        </p:txBody>
      </p:sp>
      <p:sp>
        <p:nvSpPr>
          <p:cNvPr id="11" name="Domein Dagelijkse activiteiten"/>
          <p:cNvSpPr/>
          <p:nvPr/>
        </p:nvSpPr>
        <p:spPr>
          <a:xfrm>
            <a:off x="1033272" y="3511296"/>
            <a:ext cx="219456" cy="219456"/>
          </a:xfrm>
          <a:prstGeom prst="ellipse">
            <a:avLst/>
          </a:prstGeom>
          <a:solidFill>
            <a:schemeClr val="accent6"/>
          </a:solidFill>
          <a:ln/>
        </p:spPr>
        <p:txBody>
          <a:bodyPr/>
          <a:lstStyle/>
          <a:p>
            <a:endParaRPr lang="en-US"/>
          </a:p>
        </p:txBody>
      </p:sp>
      <p:sp>
        <p:nvSpPr>
          <p:cNvPr id="12" name="Text 10"/>
          <p:cNvSpPr txBox="1"/>
          <p:nvPr/>
        </p:nvSpPr>
        <p:spPr>
          <a:xfrm>
            <a:off x="1444752" y="3429000"/>
            <a:ext cx="4114800" cy="384048"/>
          </a:xfrm>
          <a:prstGeom prst="rect">
            <a:avLst/>
          </a:prstGeom>
          <a:noFill/>
          <a:ln/>
        </p:spPr>
        <p:txBody>
          <a:bodyPr wrap="square" lIns="0" tIns="0" rIns="0" bIns="0" rtlCol="0" anchor="ctr"/>
          <a:lstStyle/>
          <a:p>
            <a:pPr marL="0" indent="0">
              <a:buNone/>
            </a:pPr>
            <a:r>
              <a:rPr lang="en-US" sz="1600" dirty="0">
                <a:solidFill>
                  <a:schemeClr val="tx1"/>
                </a:solidFill>
              </a:rPr>
              <a:t>Dagelijkse activiteiten</a:t>
            </a:r>
            <a:endParaRPr lang="en-US" sz="1600" dirty="0"/>
          </a:p>
        </p:txBody>
      </p:sp>
      <p:sp>
        <p:nvSpPr>
          <p:cNvPr id="13" name="Domein Pijn / ongemak"/>
          <p:cNvSpPr/>
          <p:nvPr/>
        </p:nvSpPr>
        <p:spPr>
          <a:xfrm>
            <a:off x="1033272" y="3968496"/>
            <a:ext cx="219456" cy="219456"/>
          </a:xfrm>
          <a:prstGeom prst="ellipse">
            <a:avLst/>
          </a:prstGeom>
          <a:solidFill>
            <a:schemeClr val="accent4"/>
          </a:solidFill>
          <a:ln/>
        </p:spPr>
        <p:txBody>
          <a:bodyPr/>
          <a:lstStyle/>
          <a:p>
            <a:endParaRPr lang="en-US"/>
          </a:p>
        </p:txBody>
      </p:sp>
      <p:sp>
        <p:nvSpPr>
          <p:cNvPr id="14" name="Text 12"/>
          <p:cNvSpPr txBox="1"/>
          <p:nvPr/>
        </p:nvSpPr>
        <p:spPr>
          <a:xfrm>
            <a:off x="1444752" y="3886200"/>
            <a:ext cx="4114800" cy="384048"/>
          </a:xfrm>
          <a:prstGeom prst="rect">
            <a:avLst/>
          </a:prstGeom>
          <a:noFill/>
          <a:ln/>
        </p:spPr>
        <p:txBody>
          <a:bodyPr wrap="square" lIns="0" tIns="0" rIns="0" bIns="0" rtlCol="0" anchor="ctr"/>
          <a:lstStyle/>
          <a:p>
            <a:pPr marL="0" indent="0">
              <a:buNone/>
            </a:pPr>
            <a:r>
              <a:rPr lang="en-US" sz="1600" dirty="0">
                <a:solidFill>
                  <a:schemeClr val="tx1"/>
                </a:solidFill>
              </a:rPr>
              <a:t>Pijn / ongemak</a:t>
            </a:r>
            <a:endParaRPr lang="en-US" sz="1600" dirty="0"/>
          </a:p>
        </p:txBody>
      </p:sp>
      <p:sp>
        <p:nvSpPr>
          <p:cNvPr id="15" name="Domein Angst / somberheid"/>
          <p:cNvSpPr/>
          <p:nvPr/>
        </p:nvSpPr>
        <p:spPr>
          <a:xfrm>
            <a:off x="1033272" y="4425696"/>
            <a:ext cx="219456" cy="219456"/>
          </a:xfrm>
          <a:prstGeom prst="ellipse">
            <a:avLst/>
          </a:prstGeom>
          <a:solidFill>
            <a:schemeClr val="accent5"/>
          </a:solidFill>
          <a:ln/>
        </p:spPr>
        <p:txBody>
          <a:bodyPr/>
          <a:lstStyle/>
          <a:p>
            <a:endParaRPr lang="en-US"/>
          </a:p>
        </p:txBody>
      </p:sp>
      <p:sp>
        <p:nvSpPr>
          <p:cNvPr id="16" name="Text 14"/>
          <p:cNvSpPr txBox="1"/>
          <p:nvPr/>
        </p:nvSpPr>
        <p:spPr>
          <a:xfrm>
            <a:off x="1444752" y="4343400"/>
            <a:ext cx="4114800" cy="384048"/>
          </a:xfrm>
          <a:prstGeom prst="rect">
            <a:avLst/>
          </a:prstGeom>
          <a:noFill/>
          <a:ln/>
        </p:spPr>
        <p:txBody>
          <a:bodyPr wrap="square" lIns="0" tIns="0" rIns="0" bIns="0" rtlCol="0" anchor="ctr"/>
          <a:lstStyle/>
          <a:p>
            <a:pPr marL="0" indent="0">
              <a:buNone/>
            </a:pPr>
            <a:r>
              <a:rPr lang="en-US" sz="1600" dirty="0">
                <a:solidFill>
                  <a:schemeClr val="tx1"/>
                </a:solidFill>
              </a:rPr>
              <a:t>Angst / somberheid</a:t>
            </a:r>
            <a:endParaRPr lang="en-US" sz="1600" dirty="0"/>
          </a:p>
        </p:txBody>
      </p:sp>
      <p:sp>
        <p:nvSpPr>
          <p:cNvPr id="17" name="Wat we veronderstellen"/>
          <p:cNvSpPr/>
          <p:nvPr/>
        </p:nvSpPr>
        <p:spPr>
          <a:xfrm>
            <a:off x="6172200" y="1783080"/>
            <a:ext cx="5349240" cy="3108960"/>
          </a:xfrm>
          <a:prstGeom prst="roundRect">
            <a:avLst>
              <a:gd name="adj" fmla="val 3529"/>
            </a:avLst>
          </a:prstGeom>
          <a:solidFill>
            <a:schemeClr val="tx1"/>
          </a:solidFill>
          <a:ln/>
        </p:spPr>
        <p:txBody>
          <a:bodyPr/>
          <a:lstStyle/>
          <a:p>
            <a:endParaRPr lang="en-US"/>
          </a:p>
        </p:txBody>
      </p:sp>
      <p:sp>
        <p:nvSpPr>
          <p:cNvPr id="18" name="Text 16"/>
          <p:cNvSpPr txBox="1"/>
          <p:nvPr/>
        </p:nvSpPr>
        <p:spPr>
          <a:xfrm>
            <a:off x="6492240" y="1965960"/>
            <a:ext cx="4754880" cy="411480"/>
          </a:xfrm>
          <a:prstGeom prst="rect">
            <a:avLst/>
          </a:prstGeom>
          <a:noFill/>
          <a:ln/>
        </p:spPr>
        <p:txBody>
          <a:bodyPr wrap="square" lIns="0" tIns="0" rIns="0" bIns="0" rtlCol="0" anchor="t"/>
          <a:lstStyle/>
          <a:p>
            <a:pPr marL="0" indent="0">
              <a:buNone/>
            </a:pPr>
            <a:r>
              <a:rPr lang="en-US" sz="2000" b="1" dirty="0">
                <a:solidFill>
                  <a:schemeClr val="bg1"/>
                </a:solidFill>
              </a:rPr>
              <a:t>Wat we veronderstellen</a:t>
            </a:r>
            <a:endParaRPr lang="en-US" sz="2000" dirty="0"/>
          </a:p>
        </p:txBody>
      </p:sp>
      <p:sp>
        <p:nvSpPr>
          <p:cNvPr id="19" name="Text 17"/>
          <p:cNvSpPr txBox="1"/>
          <p:nvPr/>
        </p:nvSpPr>
        <p:spPr>
          <a:xfrm>
            <a:off x="6492240" y="2606040"/>
            <a:ext cx="4754880" cy="914400"/>
          </a:xfrm>
          <a:prstGeom prst="rect">
            <a:avLst/>
          </a:prstGeom>
          <a:noFill/>
          <a:ln/>
        </p:spPr>
        <p:txBody>
          <a:bodyPr wrap="square" lIns="0" tIns="0" rIns="0" bIns="0" rtlCol="0" anchor="t"/>
          <a:lstStyle/>
          <a:p>
            <a:pPr marL="0" indent="0">
              <a:buNone/>
            </a:pPr>
            <a:r>
              <a:rPr lang="en-US" sz="2800" b="1" dirty="0">
                <a:solidFill>
                  <a:schemeClr val="bg1"/>
                </a:solidFill>
              </a:rPr>
              <a:t>Dat we zien waar we naartoe gaan.</a:t>
            </a:r>
            <a:endParaRPr lang="en-US" sz="2800" dirty="0"/>
          </a:p>
        </p:txBody>
      </p:sp>
      <p:sp>
        <p:nvSpPr>
          <p:cNvPr id="20" name="Text 18"/>
          <p:cNvSpPr txBox="1"/>
          <p:nvPr/>
        </p:nvSpPr>
        <p:spPr>
          <a:xfrm>
            <a:off x="6492240" y="3657600"/>
            <a:ext cx="4754880" cy="1005840"/>
          </a:xfrm>
          <a:prstGeom prst="rect">
            <a:avLst/>
          </a:prstGeom>
          <a:noFill/>
          <a:ln/>
        </p:spPr>
        <p:txBody>
          <a:bodyPr wrap="square" lIns="0" tIns="0" rIns="0" bIns="0" rtlCol="0" anchor="t"/>
          <a:lstStyle/>
          <a:p>
            <a:pPr marL="0" indent="0">
              <a:buNone/>
            </a:pPr>
            <a:r>
              <a:rPr lang="en-US" sz="1500" dirty="0">
                <a:solidFill>
                  <a:schemeClr val="bg2"/>
                </a:solidFill>
              </a:rPr>
              <a:t>Elke time trade-off vraagt mensen tien jaar vooruit te kijken. Geen enkele vraag meet of we dat samen kunnen.</a:t>
            </a:r>
            <a:endParaRPr lang="en-US" sz="1500" dirty="0"/>
          </a:p>
        </p:txBody>
      </p:sp>
      <p:sp>
        <p:nvSpPr>
          <p:cNvPr id="21" name="Toekomst"/>
          <p:cNvSpPr/>
          <p:nvPr/>
        </p:nvSpPr>
        <p:spPr>
          <a:xfrm>
            <a:off x="667512" y="5120640"/>
            <a:ext cx="10856671" cy="960120"/>
          </a:xfrm>
          <a:prstGeom prst="roundRect">
            <a:avLst>
              <a:gd name="adj" fmla="val 11429"/>
            </a:avLst>
          </a:prstGeom>
          <a:solidFill>
            <a:schemeClr val="accent3">
              <a:alpha val="12000"/>
            </a:schemeClr>
          </a:solidFill>
          <a:ln/>
        </p:spPr>
        <p:txBody>
          <a:bodyPr/>
          <a:lstStyle/>
          <a:p>
            <a:endParaRPr lang="en-US"/>
          </a:p>
        </p:txBody>
      </p:sp>
      <p:sp>
        <p:nvSpPr>
          <p:cNvPr id="22" name="Text 20"/>
          <p:cNvSpPr txBox="1"/>
          <p:nvPr/>
        </p:nvSpPr>
        <p:spPr>
          <a:xfrm>
            <a:off x="941832" y="5120640"/>
            <a:ext cx="10308031" cy="960120"/>
          </a:xfrm>
          <a:prstGeom prst="rect">
            <a:avLst/>
          </a:prstGeom>
          <a:noFill/>
          <a:ln/>
        </p:spPr>
        <p:txBody>
          <a:bodyPr wrap="square" lIns="0" tIns="0" rIns="0" bIns="0" rtlCol="0" anchor="ctr"/>
          <a:lstStyle/>
          <a:p>
            <a:pPr marL="0" indent="0">
              <a:buNone/>
            </a:pPr>
            <a:r>
              <a:rPr lang="en-US" sz="1600" b="1" dirty="0">
                <a:solidFill>
                  <a:schemeClr val="tx1"/>
                </a:solidFill>
              </a:rPr>
              <a:t>Klimaat, AI, zorg: de keuzes van nu gaan over decennia en generaties. </a:t>
            </a:r>
            <a:r>
              <a:rPr lang="en-US" sz="1600" dirty="0">
                <a:solidFill>
                  <a:schemeClr val="tx1"/>
                </a:solidFill>
              </a:rPr>
              <a:t>Vooruitkijken kost moeite: luisteren, controleren, bijstellen. Niet vooruitkijken kost meer.</a:t>
            </a:r>
            <a:endParaRPr lang="en-US" sz="16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HOOP</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Samen modelleren is samen leven</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Wie samen een model bouwt, moet het eens worden over wat we weten, wat niet, en wat we belangrijk vinden</a:t>
            </a:r>
            <a:endParaRPr lang="en-US" sz="1500" dirty="0"/>
          </a:p>
        </p:txBody>
      </p:sp>
      <p:sp>
        <p:nvSpPr>
          <p:cNvPr id="5" name="Dewey"/>
          <p:cNvSpPr/>
          <p:nvPr/>
        </p:nvSpPr>
        <p:spPr>
          <a:xfrm>
            <a:off x="667512" y="1783080"/>
            <a:ext cx="10856671" cy="1920240"/>
          </a:xfrm>
          <a:prstGeom prst="roundRect">
            <a:avLst>
              <a:gd name="adj" fmla="val 5714"/>
            </a:avLst>
          </a:prstGeom>
          <a:solidFill>
            <a:schemeClr val="tx1"/>
          </a:solidFill>
          <a:ln/>
        </p:spPr>
        <p:txBody>
          <a:bodyPr/>
          <a:lstStyle/>
          <a:p>
            <a:endParaRPr lang="en-US"/>
          </a:p>
        </p:txBody>
      </p:sp>
      <p:sp>
        <p:nvSpPr>
          <p:cNvPr id="6" name="Text 4"/>
          <p:cNvSpPr txBox="1"/>
          <p:nvPr/>
        </p:nvSpPr>
        <p:spPr>
          <a:xfrm>
            <a:off x="1033272" y="1920240"/>
            <a:ext cx="10125151" cy="1234440"/>
          </a:xfrm>
          <a:prstGeom prst="rect">
            <a:avLst/>
          </a:prstGeom>
          <a:noFill/>
          <a:ln/>
        </p:spPr>
        <p:txBody>
          <a:bodyPr wrap="square" lIns="0" tIns="0" rIns="0" bIns="0" rtlCol="0" anchor="ctr"/>
          <a:lstStyle/>
          <a:p>
            <a:pPr marL="0" indent="0">
              <a:buNone/>
            </a:pPr>
            <a:r>
              <a:rPr lang="en-US" sz="2200" i="1" dirty="0">
                <a:solidFill>
                  <a:schemeClr val="bg1"/>
                </a:solidFill>
              </a:rPr>
              <a:t>“Democratie is meer dan een regeringsvorm; het is in de eerste plaats een manier van samenleven, van gedeelde, gecommuniceerde ervaring.”</a:t>
            </a:r>
            <a:endParaRPr lang="en-US" sz="2200" dirty="0"/>
          </a:p>
        </p:txBody>
      </p:sp>
      <p:sp>
        <p:nvSpPr>
          <p:cNvPr id="7" name="Text 5"/>
          <p:cNvSpPr txBox="1"/>
          <p:nvPr/>
        </p:nvSpPr>
        <p:spPr>
          <a:xfrm>
            <a:off x="1033272" y="3200400"/>
            <a:ext cx="10125151" cy="365760"/>
          </a:xfrm>
          <a:prstGeom prst="rect">
            <a:avLst/>
          </a:prstGeom>
          <a:noFill/>
          <a:ln/>
        </p:spPr>
        <p:txBody>
          <a:bodyPr wrap="square" lIns="0" tIns="0" rIns="0" bIns="0" rtlCol="0" anchor="t"/>
          <a:lstStyle/>
          <a:p>
            <a:pPr marL="0" indent="0">
              <a:buNone/>
            </a:pPr>
            <a:r>
              <a:rPr lang="en-US" sz="1400" dirty="0">
                <a:solidFill>
                  <a:schemeClr val="bg2"/>
                </a:solidFill>
              </a:rPr>
              <a:t>John Dewey, Democracy and Education (1916), vrij vertaald</a:t>
            </a:r>
            <a:endParaRPr lang="en-US" sz="1400" dirty="0"/>
          </a:p>
        </p:txBody>
      </p:sp>
      <p:sp>
        <p:nvSpPr>
          <p:cNvPr id="8" name="Samen een model bouwen"/>
          <p:cNvSpPr/>
          <p:nvPr/>
        </p:nvSpPr>
        <p:spPr>
          <a:xfrm>
            <a:off x="667512" y="3931920"/>
            <a:ext cx="3375050" cy="2148840"/>
          </a:xfrm>
          <a:prstGeom prst="roundRect">
            <a:avLst>
              <a:gd name="adj" fmla="val 5106"/>
            </a:avLst>
          </a:prstGeom>
          <a:solidFill>
            <a:schemeClr val="bg2"/>
          </a:solidFill>
          <a:ln/>
        </p:spPr>
        <p:txBody>
          <a:bodyPr/>
          <a:lstStyle/>
          <a:p>
            <a:endParaRPr lang="en-US"/>
          </a:p>
        </p:txBody>
      </p:sp>
      <p:sp>
        <p:nvSpPr>
          <p:cNvPr id="9" name="Text 7"/>
          <p:cNvSpPr txBox="1"/>
          <p:nvPr/>
        </p:nvSpPr>
        <p:spPr>
          <a:xfrm>
            <a:off x="941832" y="4114800"/>
            <a:ext cx="2826410" cy="685800"/>
          </a:xfrm>
          <a:prstGeom prst="rect">
            <a:avLst/>
          </a:prstGeom>
          <a:noFill/>
          <a:ln/>
        </p:spPr>
        <p:txBody>
          <a:bodyPr wrap="square" lIns="0" tIns="0" rIns="0" bIns="0" rtlCol="0" anchor="t"/>
          <a:lstStyle/>
          <a:p>
            <a:pPr marL="0" indent="0">
              <a:buNone/>
            </a:pPr>
            <a:r>
              <a:rPr lang="en-US" sz="1800" b="1" dirty="0">
                <a:solidFill>
                  <a:schemeClr val="tx1"/>
                </a:solidFill>
              </a:rPr>
              <a:t>Samen een model bouwen</a:t>
            </a:r>
            <a:endParaRPr lang="en-US" sz="1800" dirty="0"/>
          </a:p>
        </p:txBody>
      </p:sp>
      <p:sp>
        <p:nvSpPr>
          <p:cNvPr id="10" name="Text 8"/>
          <p:cNvSpPr txBox="1"/>
          <p:nvPr/>
        </p:nvSpPr>
        <p:spPr>
          <a:xfrm>
            <a:off x="941832" y="4800600"/>
            <a:ext cx="2826410" cy="640080"/>
          </a:xfrm>
          <a:prstGeom prst="rect">
            <a:avLst/>
          </a:prstGeom>
          <a:noFill/>
          <a:ln/>
        </p:spPr>
        <p:txBody>
          <a:bodyPr wrap="square" lIns="0" tIns="0" rIns="0" bIns="0" rtlCol="0" anchor="t"/>
          <a:lstStyle/>
          <a:p>
            <a:pPr marL="0" indent="0">
              <a:buNone/>
            </a:pPr>
            <a:r>
              <a:rPr lang="en-US" sz="1500" dirty="0">
                <a:solidFill>
                  <a:schemeClr val="tx1"/>
                </a:solidFill>
              </a:rPr>
              <a:t>schept gedeeld begrip en draagvlak</a:t>
            </a:r>
            <a:endParaRPr lang="en-US" sz="1500" dirty="0"/>
          </a:p>
        </p:txBody>
      </p:sp>
      <p:sp>
        <p:nvSpPr>
          <p:cNvPr id="11" name="Text 9"/>
          <p:cNvSpPr txBox="1"/>
          <p:nvPr/>
        </p:nvSpPr>
        <p:spPr>
          <a:xfrm>
            <a:off x="941832" y="5532120"/>
            <a:ext cx="2826410" cy="365760"/>
          </a:xfrm>
          <a:prstGeom prst="rect">
            <a:avLst/>
          </a:prstGeom>
          <a:noFill/>
          <a:ln/>
        </p:spPr>
        <p:txBody>
          <a:bodyPr wrap="square" lIns="0" tIns="0" rIns="0" bIns="0" rtlCol="0" anchor="t"/>
          <a:lstStyle/>
          <a:p>
            <a:pPr marL="0" indent="0">
              <a:buNone/>
            </a:pPr>
            <a:r>
              <a:rPr lang="en-US" sz="1100" dirty="0">
                <a:solidFill>
                  <a:schemeClr val="tx2"/>
                </a:solidFill>
              </a:rPr>
              <a:t>Vennix (1996), Group Model Building</a:t>
            </a:r>
            <a:endParaRPr lang="en-US" sz="1100" dirty="0"/>
          </a:p>
        </p:txBody>
      </p:sp>
      <p:sp>
        <p:nvSpPr>
          <p:cNvPr id="12" name="Bij hoge inzet en onzekerheid"/>
          <p:cNvSpPr/>
          <p:nvPr/>
        </p:nvSpPr>
        <p:spPr>
          <a:xfrm>
            <a:off x="4408322" y="3931920"/>
            <a:ext cx="3375050" cy="2148840"/>
          </a:xfrm>
          <a:prstGeom prst="roundRect">
            <a:avLst>
              <a:gd name="adj" fmla="val 5106"/>
            </a:avLst>
          </a:prstGeom>
          <a:solidFill>
            <a:schemeClr val="bg2"/>
          </a:solidFill>
          <a:ln/>
        </p:spPr>
        <p:txBody>
          <a:bodyPr/>
          <a:lstStyle/>
          <a:p>
            <a:endParaRPr lang="en-US"/>
          </a:p>
        </p:txBody>
      </p:sp>
      <p:sp>
        <p:nvSpPr>
          <p:cNvPr id="13" name="Text 11"/>
          <p:cNvSpPr txBox="1"/>
          <p:nvPr/>
        </p:nvSpPr>
        <p:spPr>
          <a:xfrm>
            <a:off x="4682642" y="4114800"/>
            <a:ext cx="2826410" cy="685800"/>
          </a:xfrm>
          <a:prstGeom prst="rect">
            <a:avLst/>
          </a:prstGeom>
          <a:noFill/>
          <a:ln/>
        </p:spPr>
        <p:txBody>
          <a:bodyPr wrap="square" lIns="0" tIns="0" rIns="0" bIns="0" rtlCol="0" anchor="t"/>
          <a:lstStyle/>
          <a:p>
            <a:pPr marL="0" indent="0">
              <a:buNone/>
            </a:pPr>
            <a:r>
              <a:rPr lang="en-US" sz="1800" b="1" dirty="0">
                <a:solidFill>
                  <a:schemeClr val="tx1"/>
                </a:solidFill>
              </a:rPr>
              <a:t>Bij hoge inzet en onzekerheid</a:t>
            </a:r>
            <a:endParaRPr lang="en-US" sz="1800" dirty="0"/>
          </a:p>
        </p:txBody>
      </p:sp>
      <p:sp>
        <p:nvSpPr>
          <p:cNvPr id="14" name="Text 12"/>
          <p:cNvSpPr txBox="1"/>
          <p:nvPr/>
        </p:nvSpPr>
        <p:spPr>
          <a:xfrm>
            <a:off x="4682642" y="4800600"/>
            <a:ext cx="2826410" cy="640080"/>
          </a:xfrm>
          <a:prstGeom prst="rect">
            <a:avLst/>
          </a:prstGeom>
          <a:noFill/>
          <a:ln/>
        </p:spPr>
        <p:txBody>
          <a:bodyPr wrap="square" lIns="0" tIns="0" rIns="0" bIns="0" rtlCol="0" anchor="t"/>
          <a:lstStyle/>
          <a:p>
            <a:pPr marL="0" indent="0">
              <a:buNone/>
            </a:pPr>
            <a:r>
              <a:rPr lang="en-US" sz="1500" dirty="0">
                <a:solidFill>
                  <a:schemeClr val="tx1"/>
                </a:solidFill>
              </a:rPr>
              <a:t>hoort iedereen met een belang aan tafel</a:t>
            </a:r>
            <a:endParaRPr lang="en-US" sz="1500" dirty="0"/>
          </a:p>
        </p:txBody>
      </p:sp>
      <p:sp>
        <p:nvSpPr>
          <p:cNvPr id="15" name="Text 13"/>
          <p:cNvSpPr txBox="1"/>
          <p:nvPr/>
        </p:nvSpPr>
        <p:spPr>
          <a:xfrm>
            <a:off x="4682642" y="5532120"/>
            <a:ext cx="2826410" cy="365760"/>
          </a:xfrm>
          <a:prstGeom prst="rect">
            <a:avLst/>
          </a:prstGeom>
          <a:noFill/>
          <a:ln/>
        </p:spPr>
        <p:txBody>
          <a:bodyPr wrap="square" lIns="0" tIns="0" rIns="0" bIns="0" rtlCol="0" anchor="t"/>
          <a:lstStyle/>
          <a:p>
            <a:pPr marL="0" indent="0">
              <a:buNone/>
            </a:pPr>
            <a:r>
              <a:rPr lang="en-US" sz="1100" dirty="0">
                <a:solidFill>
                  <a:schemeClr val="tx2"/>
                </a:solidFill>
              </a:rPr>
              <a:t>Funtowicz &amp; Ravetz (1993)</a:t>
            </a:r>
            <a:endParaRPr lang="en-US" sz="1100" dirty="0"/>
          </a:p>
        </p:txBody>
      </p:sp>
      <p:sp>
        <p:nvSpPr>
          <p:cNvPr id="16" name="Verschil telt"/>
          <p:cNvSpPr/>
          <p:nvPr/>
        </p:nvSpPr>
        <p:spPr>
          <a:xfrm>
            <a:off x="8149133" y="3931920"/>
            <a:ext cx="3375050" cy="2148840"/>
          </a:xfrm>
          <a:prstGeom prst="roundRect">
            <a:avLst>
              <a:gd name="adj" fmla="val 5106"/>
            </a:avLst>
          </a:prstGeom>
          <a:solidFill>
            <a:schemeClr val="bg2"/>
          </a:solidFill>
          <a:ln/>
        </p:spPr>
        <p:txBody>
          <a:bodyPr/>
          <a:lstStyle/>
          <a:p>
            <a:endParaRPr lang="en-US"/>
          </a:p>
        </p:txBody>
      </p:sp>
      <p:sp>
        <p:nvSpPr>
          <p:cNvPr id="17" name="Text 15"/>
          <p:cNvSpPr txBox="1"/>
          <p:nvPr/>
        </p:nvSpPr>
        <p:spPr>
          <a:xfrm>
            <a:off x="8423453" y="4114800"/>
            <a:ext cx="2826410" cy="685800"/>
          </a:xfrm>
          <a:prstGeom prst="rect">
            <a:avLst/>
          </a:prstGeom>
          <a:noFill/>
          <a:ln/>
        </p:spPr>
        <p:txBody>
          <a:bodyPr wrap="square" lIns="0" tIns="0" rIns="0" bIns="0" rtlCol="0" anchor="t"/>
          <a:lstStyle/>
          <a:p>
            <a:pPr marL="0" indent="0">
              <a:buNone/>
            </a:pPr>
            <a:r>
              <a:rPr lang="en-US" sz="1800" b="1" dirty="0">
                <a:solidFill>
                  <a:schemeClr val="tx1"/>
                </a:solidFill>
              </a:rPr>
              <a:t>Verschil telt</a:t>
            </a:r>
            <a:endParaRPr lang="en-US" sz="1800" dirty="0"/>
          </a:p>
        </p:txBody>
      </p:sp>
      <p:sp>
        <p:nvSpPr>
          <p:cNvPr id="18" name="Text 16"/>
          <p:cNvSpPr txBox="1"/>
          <p:nvPr/>
        </p:nvSpPr>
        <p:spPr>
          <a:xfrm>
            <a:off x="8423453" y="4800600"/>
            <a:ext cx="2826410" cy="640080"/>
          </a:xfrm>
          <a:prstGeom prst="rect">
            <a:avLst/>
          </a:prstGeom>
          <a:noFill/>
          <a:ln/>
        </p:spPr>
        <p:txBody>
          <a:bodyPr wrap="square" lIns="0" tIns="0" rIns="0" bIns="0" rtlCol="0" anchor="t"/>
          <a:lstStyle/>
          <a:p>
            <a:pPr marL="0" indent="0">
              <a:buNone/>
            </a:pPr>
            <a:r>
              <a:rPr lang="en-US" sz="1500" dirty="0">
                <a:solidFill>
                  <a:schemeClr val="tx1"/>
                </a:solidFill>
              </a:rPr>
              <a:t>meer dan alleen slimheid</a:t>
            </a:r>
            <a:endParaRPr lang="en-US" sz="1500" dirty="0"/>
          </a:p>
        </p:txBody>
      </p:sp>
      <p:sp>
        <p:nvSpPr>
          <p:cNvPr id="19" name="Text 17"/>
          <p:cNvSpPr txBox="1"/>
          <p:nvPr/>
        </p:nvSpPr>
        <p:spPr>
          <a:xfrm>
            <a:off x="8423453" y="5532120"/>
            <a:ext cx="2826410" cy="365760"/>
          </a:xfrm>
          <a:prstGeom prst="rect">
            <a:avLst/>
          </a:prstGeom>
          <a:noFill/>
          <a:ln/>
        </p:spPr>
        <p:txBody>
          <a:bodyPr wrap="square" lIns="0" tIns="0" rIns="0" bIns="0" rtlCol="0" anchor="t"/>
          <a:lstStyle/>
          <a:p>
            <a:pPr marL="0" indent="0">
              <a:buNone/>
            </a:pPr>
            <a:r>
              <a:rPr lang="en-US" sz="1100" dirty="0">
                <a:solidFill>
                  <a:schemeClr val="tx2"/>
                </a:solidFill>
              </a:rPr>
              <a:t>Landemore (2013), Democratic Reason</a:t>
            </a:r>
            <a:endParaRPr lang="en-US" sz="11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MEEDOEN</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De toegangseisen</a:t>
            </a:r>
            <a:endParaRPr lang="en-US" sz="2800" dirty="0"/>
          </a:p>
        </p:txBody>
      </p:sp>
      <p:sp>
        <p:nvSpPr>
          <p:cNvPr id="4"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r>
              <a:rPr lang="en-US" sz="1500" dirty="0">
                <a:solidFill>
                  <a:schemeClr val="tx2"/>
                </a:solidFill>
              </a:rPr>
              <a:t>Huisregels voor wie bijdraagt aan onze </a:t>
            </a:r>
            <a:r>
              <a:rPr lang="en-US" sz="1500" dirty="0" err="1">
                <a:solidFill>
                  <a:schemeClr val="tx2"/>
                </a:solidFill>
              </a:rPr>
              <a:t>gezamenlijke</a:t>
            </a:r>
            <a:r>
              <a:rPr lang="en-US" sz="1500" dirty="0">
                <a:solidFill>
                  <a:schemeClr val="tx2"/>
                </a:solidFill>
              </a:rPr>
              <a:t> </a:t>
            </a:r>
            <a:r>
              <a:rPr lang="en-US" sz="1500" dirty="0" err="1">
                <a:solidFill>
                  <a:schemeClr val="tx2"/>
                </a:solidFill>
              </a:rPr>
              <a:t>kegel</a:t>
            </a:r>
            <a:endParaRPr lang="en-US" sz="1500" dirty="0"/>
          </a:p>
        </p:txBody>
      </p:sp>
      <p:sp>
        <p:nvSpPr>
          <p:cNvPr id="5" name="Eerlijk"/>
          <p:cNvSpPr/>
          <p:nvPr/>
        </p:nvSpPr>
        <p:spPr>
          <a:xfrm>
            <a:off x="667512" y="1783080"/>
            <a:ext cx="3375050" cy="1920240"/>
          </a:xfrm>
          <a:prstGeom prst="roundRect">
            <a:avLst>
              <a:gd name="adj" fmla="val 5714"/>
            </a:avLst>
          </a:prstGeom>
          <a:solidFill>
            <a:schemeClr val="bg2"/>
          </a:solidFill>
          <a:ln/>
        </p:spPr>
        <p:txBody>
          <a:bodyPr/>
          <a:lstStyle/>
          <a:p>
            <a:endParaRPr lang="en-US"/>
          </a:p>
        </p:txBody>
      </p:sp>
      <p:sp>
        <p:nvSpPr>
          <p:cNvPr id="6" name="Nummer 1"/>
          <p:cNvSpPr/>
          <p:nvPr/>
        </p:nvSpPr>
        <p:spPr>
          <a:xfrm>
            <a:off x="941832" y="2057400"/>
            <a:ext cx="457200" cy="457200"/>
          </a:xfrm>
          <a:prstGeom prst="ellipse">
            <a:avLst/>
          </a:prstGeom>
          <a:solidFill>
            <a:schemeClr val="accent1"/>
          </a:solidFill>
          <a:ln/>
        </p:spPr>
        <p:txBody>
          <a:bodyPr/>
          <a:lstStyle/>
          <a:p>
            <a:endParaRPr lang="en-US"/>
          </a:p>
        </p:txBody>
      </p:sp>
      <p:sp>
        <p:nvSpPr>
          <p:cNvPr id="7" name="Text 5"/>
          <p:cNvSpPr txBox="1"/>
          <p:nvPr/>
        </p:nvSpPr>
        <p:spPr>
          <a:xfrm>
            <a:off x="941832" y="20574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6"/>
          <p:cNvSpPr txBox="1"/>
          <p:nvPr/>
        </p:nvSpPr>
        <p:spPr>
          <a:xfrm>
            <a:off x="1581912" y="2057400"/>
            <a:ext cx="2232050" cy="502920"/>
          </a:xfrm>
          <a:prstGeom prst="rect">
            <a:avLst/>
          </a:prstGeom>
          <a:noFill/>
          <a:ln/>
        </p:spPr>
        <p:txBody>
          <a:bodyPr wrap="square" lIns="0" tIns="0" rIns="0" bIns="0" rtlCol="0" anchor="ctr"/>
          <a:lstStyle/>
          <a:p>
            <a:pPr marL="0" indent="0">
              <a:buNone/>
            </a:pPr>
            <a:r>
              <a:rPr lang="en-US" sz="1800" b="1" dirty="0">
                <a:solidFill>
                  <a:schemeClr val="tx1"/>
                </a:solidFill>
              </a:rPr>
              <a:t>Eerlijk</a:t>
            </a:r>
            <a:endParaRPr lang="en-US" sz="1800" dirty="0"/>
          </a:p>
        </p:txBody>
      </p:sp>
      <p:sp>
        <p:nvSpPr>
          <p:cNvPr id="9" name="Text 7"/>
          <p:cNvSpPr txBox="1"/>
          <p:nvPr/>
        </p:nvSpPr>
        <p:spPr>
          <a:xfrm>
            <a:off x="941832" y="2697480"/>
            <a:ext cx="2826410" cy="868680"/>
          </a:xfrm>
          <a:prstGeom prst="rect">
            <a:avLst/>
          </a:prstGeom>
          <a:noFill/>
          <a:ln/>
        </p:spPr>
        <p:txBody>
          <a:bodyPr wrap="square" lIns="0" tIns="0" rIns="0" bIns="0" rtlCol="0" anchor="t"/>
          <a:lstStyle/>
          <a:p>
            <a:pPr marL="0" indent="0">
              <a:buNone/>
            </a:pPr>
            <a:r>
              <a:rPr lang="en-US" sz="1500" dirty="0">
                <a:solidFill>
                  <a:schemeClr val="tx2"/>
                </a:solidFill>
              </a:rPr>
              <a:t>Zeg wat je ziet, en schrijf je aannames op.</a:t>
            </a:r>
            <a:endParaRPr lang="en-US" sz="1500" dirty="0"/>
          </a:p>
        </p:txBody>
      </p:sp>
      <p:sp>
        <p:nvSpPr>
          <p:cNvPr id="10" name="Fouten toegeven"/>
          <p:cNvSpPr/>
          <p:nvPr/>
        </p:nvSpPr>
        <p:spPr>
          <a:xfrm>
            <a:off x="4408322" y="1783080"/>
            <a:ext cx="3375050" cy="1920240"/>
          </a:xfrm>
          <a:prstGeom prst="roundRect">
            <a:avLst>
              <a:gd name="adj" fmla="val 5714"/>
            </a:avLst>
          </a:prstGeom>
          <a:solidFill>
            <a:schemeClr val="bg2"/>
          </a:solidFill>
          <a:ln/>
        </p:spPr>
        <p:txBody>
          <a:bodyPr/>
          <a:lstStyle/>
          <a:p>
            <a:endParaRPr lang="en-US"/>
          </a:p>
        </p:txBody>
      </p:sp>
      <p:sp>
        <p:nvSpPr>
          <p:cNvPr id="11" name="Nummer 2"/>
          <p:cNvSpPr/>
          <p:nvPr/>
        </p:nvSpPr>
        <p:spPr>
          <a:xfrm>
            <a:off x="4682642" y="2057400"/>
            <a:ext cx="457200" cy="457200"/>
          </a:xfrm>
          <a:prstGeom prst="ellipse">
            <a:avLst/>
          </a:prstGeom>
          <a:solidFill>
            <a:schemeClr val="accent2"/>
          </a:solidFill>
          <a:ln/>
        </p:spPr>
        <p:txBody>
          <a:bodyPr/>
          <a:lstStyle/>
          <a:p>
            <a:endParaRPr lang="en-US"/>
          </a:p>
        </p:txBody>
      </p:sp>
      <p:sp>
        <p:nvSpPr>
          <p:cNvPr id="12" name="Text 10"/>
          <p:cNvSpPr txBox="1"/>
          <p:nvPr/>
        </p:nvSpPr>
        <p:spPr>
          <a:xfrm>
            <a:off x="4682642" y="20574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1"/>
          <p:cNvSpPr txBox="1"/>
          <p:nvPr/>
        </p:nvSpPr>
        <p:spPr>
          <a:xfrm>
            <a:off x="5322722" y="2057400"/>
            <a:ext cx="2232050" cy="502920"/>
          </a:xfrm>
          <a:prstGeom prst="rect">
            <a:avLst/>
          </a:prstGeom>
          <a:noFill/>
          <a:ln/>
        </p:spPr>
        <p:txBody>
          <a:bodyPr wrap="square" lIns="0" tIns="0" rIns="0" bIns="0" rtlCol="0" anchor="ctr"/>
          <a:lstStyle/>
          <a:p>
            <a:pPr marL="0" indent="0">
              <a:buNone/>
            </a:pPr>
            <a:r>
              <a:rPr lang="en-US" sz="1800" b="1" dirty="0">
                <a:solidFill>
                  <a:schemeClr val="tx1"/>
                </a:solidFill>
              </a:rPr>
              <a:t>Fouten toegeven</a:t>
            </a:r>
            <a:endParaRPr lang="en-US" sz="1800" dirty="0"/>
          </a:p>
        </p:txBody>
      </p:sp>
      <p:sp>
        <p:nvSpPr>
          <p:cNvPr id="14" name="Text 12"/>
          <p:cNvSpPr txBox="1"/>
          <p:nvPr/>
        </p:nvSpPr>
        <p:spPr>
          <a:xfrm>
            <a:off x="4682642" y="2697480"/>
            <a:ext cx="2826410" cy="868680"/>
          </a:xfrm>
          <a:prstGeom prst="rect">
            <a:avLst/>
          </a:prstGeom>
          <a:noFill/>
          <a:ln/>
        </p:spPr>
        <p:txBody>
          <a:bodyPr wrap="square" lIns="0" tIns="0" rIns="0" bIns="0" rtlCol="0" anchor="t"/>
          <a:lstStyle/>
          <a:p>
            <a:pPr marL="0" indent="0">
              <a:buNone/>
            </a:pPr>
            <a:r>
              <a:rPr lang="en-US" sz="1500" dirty="0">
                <a:solidFill>
                  <a:schemeClr val="tx2"/>
                </a:solidFill>
              </a:rPr>
              <a:t>Zekerheid voelt hetzelfde als gelijk hebben, maar is het niet.</a:t>
            </a:r>
            <a:endParaRPr lang="en-US" sz="1500" dirty="0"/>
          </a:p>
        </p:txBody>
      </p:sp>
      <p:sp>
        <p:nvSpPr>
          <p:cNvPr id="15" name="Luisteren, niet gehoorzamen"/>
          <p:cNvSpPr/>
          <p:nvPr/>
        </p:nvSpPr>
        <p:spPr>
          <a:xfrm>
            <a:off x="8149133" y="1783080"/>
            <a:ext cx="3375050" cy="1920240"/>
          </a:xfrm>
          <a:prstGeom prst="roundRect">
            <a:avLst>
              <a:gd name="adj" fmla="val 5714"/>
            </a:avLst>
          </a:prstGeom>
          <a:solidFill>
            <a:schemeClr val="bg2"/>
          </a:solidFill>
          <a:ln/>
        </p:spPr>
        <p:txBody>
          <a:bodyPr/>
          <a:lstStyle/>
          <a:p>
            <a:endParaRPr lang="en-US"/>
          </a:p>
        </p:txBody>
      </p:sp>
      <p:sp>
        <p:nvSpPr>
          <p:cNvPr id="16" name="Nummer 3"/>
          <p:cNvSpPr/>
          <p:nvPr/>
        </p:nvSpPr>
        <p:spPr>
          <a:xfrm>
            <a:off x="8423453" y="2057400"/>
            <a:ext cx="457200" cy="457200"/>
          </a:xfrm>
          <a:prstGeom prst="ellipse">
            <a:avLst/>
          </a:prstGeom>
          <a:solidFill>
            <a:schemeClr val="accent6"/>
          </a:solidFill>
          <a:ln/>
        </p:spPr>
        <p:txBody>
          <a:bodyPr/>
          <a:lstStyle/>
          <a:p>
            <a:endParaRPr lang="en-US"/>
          </a:p>
        </p:txBody>
      </p:sp>
      <p:sp>
        <p:nvSpPr>
          <p:cNvPr id="17" name="Text 15"/>
          <p:cNvSpPr txBox="1"/>
          <p:nvPr/>
        </p:nvSpPr>
        <p:spPr>
          <a:xfrm>
            <a:off x="8423453" y="20574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6"/>
          <p:cNvSpPr txBox="1"/>
          <p:nvPr/>
        </p:nvSpPr>
        <p:spPr>
          <a:xfrm>
            <a:off x="9063533" y="2057400"/>
            <a:ext cx="2232050" cy="502920"/>
          </a:xfrm>
          <a:prstGeom prst="rect">
            <a:avLst/>
          </a:prstGeom>
          <a:noFill/>
          <a:ln/>
        </p:spPr>
        <p:txBody>
          <a:bodyPr wrap="square" lIns="0" tIns="0" rIns="0" bIns="0" rtlCol="0" anchor="ctr"/>
          <a:lstStyle/>
          <a:p>
            <a:pPr marL="0" indent="0">
              <a:buNone/>
            </a:pPr>
            <a:r>
              <a:rPr lang="en-US" sz="1800" b="1" dirty="0">
                <a:solidFill>
                  <a:schemeClr val="tx1"/>
                </a:solidFill>
              </a:rPr>
              <a:t>Luisteren, niet gehoorzamen</a:t>
            </a:r>
            <a:endParaRPr lang="en-US" sz="1800" dirty="0"/>
          </a:p>
        </p:txBody>
      </p:sp>
      <p:sp>
        <p:nvSpPr>
          <p:cNvPr id="19" name="Text 17"/>
          <p:cNvSpPr txBox="1"/>
          <p:nvPr/>
        </p:nvSpPr>
        <p:spPr>
          <a:xfrm>
            <a:off x="8423453" y="2697480"/>
            <a:ext cx="2826410" cy="868680"/>
          </a:xfrm>
          <a:prstGeom prst="rect">
            <a:avLst/>
          </a:prstGeom>
          <a:noFill/>
          <a:ln/>
        </p:spPr>
        <p:txBody>
          <a:bodyPr wrap="square" lIns="0" tIns="0" rIns="0" bIns="0" rtlCol="0" anchor="t"/>
          <a:lstStyle/>
          <a:p>
            <a:pPr marL="0" indent="0">
              <a:buNone/>
            </a:pPr>
            <a:r>
              <a:rPr lang="en-US" sz="1500" dirty="0">
                <a:solidFill>
                  <a:schemeClr val="tx2"/>
                </a:solidFill>
              </a:rPr>
              <a:t>Laat bewijs beslissen, niet wie het hardst praat.</a:t>
            </a:r>
            <a:endParaRPr lang="en-US" sz="1500" dirty="0"/>
          </a:p>
        </p:txBody>
      </p:sp>
      <p:sp>
        <p:nvSpPr>
          <p:cNvPr id="20" name="Je eigen blik houden"/>
          <p:cNvSpPr/>
          <p:nvPr/>
        </p:nvSpPr>
        <p:spPr>
          <a:xfrm>
            <a:off x="667512" y="3931920"/>
            <a:ext cx="3375050" cy="1920240"/>
          </a:xfrm>
          <a:prstGeom prst="roundRect">
            <a:avLst>
              <a:gd name="adj" fmla="val 5714"/>
            </a:avLst>
          </a:prstGeom>
          <a:solidFill>
            <a:schemeClr val="bg2"/>
          </a:solidFill>
          <a:ln/>
        </p:spPr>
        <p:txBody>
          <a:bodyPr/>
          <a:lstStyle/>
          <a:p>
            <a:endParaRPr lang="en-US"/>
          </a:p>
        </p:txBody>
      </p:sp>
      <p:sp>
        <p:nvSpPr>
          <p:cNvPr id="21" name="Nummer 4"/>
          <p:cNvSpPr/>
          <p:nvPr/>
        </p:nvSpPr>
        <p:spPr>
          <a:xfrm>
            <a:off x="941832" y="4206240"/>
            <a:ext cx="457200" cy="457200"/>
          </a:xfrm>
          <a:prstGeom prst="ellipse">
            <a:avLst/>
          </a:prstGeom>
          <a:solidFill>
            <a:schemeClr val="accent5"/>
          </a:solidFill>
          <a:ln/>
        </p:spPr>
        <p:txBody>
          <a:bodyPr/>
          <a:lstStyle/>
          <a:p>
            <a:endParaRPr lang="en-US"/>
          </a:p>
        </p:txBody>
      </p:sp>
      <p:sp>
        <p:nvSpPr>
          <p:cNvPr id="22" name="Text 20"/>
          <p:cNvSpPr txBox="1"/>
          <p:nvPr/>
        </p:nvSpPr>
        <p:spPr>
          <a:xfrm>
            <a:off x="941832" y="420624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3" name="Text 21"/>
          <p:cNvSpPr txBox="1"/>
          <p:nvPr/>
        </p:nvSpPr>
        <p:spPr>
          <a:xfrm>
            <a:off x="1581912" y="4206240"/>
            <a:ext cx="2232050" cy="502920"/>
          </a:xfrm>
          <a:prstGeom prst="rect">
            <a:avLst/>
          </a:prstGeom>
          <a:noFill/>
          <a:ln/>
        </p:spPr>
        <p:txBody>
          <a:bodyPr wrap="square" lIns="0" tIns="0" rIns="0" bIns="0" rtlCol="0" anchor="ctr"/>
          <a:lstStyle/>
          <a:p>
            <a:pPr marL="0" indent="0">
              <a:buNone/>
            </a:pPr>
            <a:r>
              <a:rPr lang="en-US" sz="1800" b="1" dirty="0">
                <a:solidFill>
                  <a:schemeClr val="tx1"/>
                </a:solidFill>
              </a:rPr>
              <a:t>Je eigen blik houden</a:t>
            </a:r>
            <a:endParaRPr lang="en-US" sz="1800" dirty="0"/>
          </a:p>
        </p:txBody>
      </p:sp>
      <p:sp>
        <p:nvSpPr>
          <p:cNvPr id="24" name="Text 22"/>
          <p:cNvSpPr txBox="1"/>
          <p:nvPr/>
        </p:nvSpPr>
        <p:spPr>
          <a:xfrm>
            <a:off x="941832" y="4846320"/>
            <a:ext cx="2826410" cy="868680"/>
          </a:xfrm>
          <a:prstGeom prst="rect">
            <a:avLst/>
          </a:prstGeom>
          <a:noFill/>
          <a:ln/>
        </p:spPr>
        <p:txBody>
          <a:bodyPr wrap="square" lIns="0" tIns="0" rIns="0" bIns="0" rtlCol="0" anchor="t"/>
          <a:lstStyle/>
          <a:p>
            <a:pPr marL="0" indent="0">
              <a:buNone/>
            </a:pPr>
            <a:r>
              <a:rPr lang="en-US" sz="1500" dirty="0">
                <a:solidFill>
                  <a:schemeClr val="tx2"/>
                </a:solidFill>
              </a:rPr>
              <a:t>Napraten voegt geen kegel toe.</a:t>
            </a:r>
            <a:endParaRPr lang="en-US" sz="1500" dirty="0"/>
          </a:p>
        </p:txBody>
      </p:sp>
      <p:sp>
        <p:nvSpPr>
          <p:cNvPr id="25" name="Meer geven dan nemen"/>
          <p:cNvSpPr/>
          <p:nvPr/>
        </p:nvSpPr>
        <p:spPr>
          <a:xfrm>
            <a:off x="4408322" y="3931920"/>
            <a:ext cx="3375050" cy="1920240"/>
          </a:xfrm>
          <a:prstGeom prst="roundRect">
            <a:avLst>
              <a:gd name="adj" fmla="val 5714"/>
            </a:avLst>
          </a:prstGeom>
          <a:solidFill>
            <a:schemeClr val="bg2"/>
          </a:solidFill>
          <a:ln/>
        </p:spPr>
        <p:txBody>
          <a:bodyPr/>
          <a:lstStyle/>
          <a:p>
            <a:endParaRPr lang="en-US"/>
          </a:p>
        </p:txBody>
      </p:sp>
      <p:sp>
        <p:nvSpPr>
          <p:cNvPr id="26" name="Nummer 5"/>
          <p:cNvSpPr/>
          <p:nvPr/>
        </p:nvSpPr>
        <p:spPr>
          <a:xfrm>
            <a:off x="4682642" y="4206240"/>
            <a:ext cx="457200" cy="457200"/>
          </a:xfrm>
          <a:prstGeom prst="ellipse">
            <a:avLst/>
          </a:prstGeom>
          <a:solidFill>
            <a:schemeClr val="accent4"/>
          </a:solidFill>
          <a:ln/>
        </p:spPr>
        <p:txBody>
          <a:bodyPr/>
          <a:lstStyle/>
          <a:p>
            <a:endParaRPr lang="en-US"/>
          </a:p>
        </p:txBody>
      </p:sp>
      <p:sp>
        <p:nvSpPr>
          <p:cNvPr id="27" name="Text 25"/>
          <p:cNvSpPr txBox="1"/>
          <p:nvPr/>
        </p:nvSpPr>
        <p:spPr>
          <a:xfrm>
            <a:off x="4682642" y="420624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8" name="Text 26"/>
          <p:cNvSpPr txBox="1"/>
          <p:nvPr/>
        </p:nvSpPr>
        <p:spPr>
          <a:xfrm>
            <a:off x="5322722" y="4206240"/>
            <a:ext cx="2232050" cy="502920"/>
          </a:xfrm>
          <a:prstGeom prst="rect">
            <a:avLst/>
          </a:prstGeom>
          <a:noFill/>
          <a:ln/>
        </p:spPr>
        <p:txBody>
          <a:bodyPr wrap="square" lIns="0" tIns="0" rIns="0" bIns="0" rtlCol="0" anchor="ctr"/>
          <a:lstStyle/>
          <a:p>
            <a:pPr marL="0" indent="0">
              <a:buNone/>
            </a:pPr>
            <a:r>
              <a:rPr lang="en-US" sz="1800" b="1" dirty="0">
                <a:solidFill>
                  <a:schemeClr val="tx1"/>
                </a:solidFill>
              </a:rPr>
              <a:t>Meer geven dan nemen</a:t>
            </a:r>
            <a:endParaRPr lang="en-US" sz="1800" dirty="0"/>
          </a:p>
        </p:txBody>
      </p:sp>
      <p:sp>
        <p:nvSpPr>
          <p:cNvPr id="29" name="Text 27"/>
          <p:cNvSpPr txBox="1"/>
          <p:nvPr/>
        </p:nvSpPr>
        <p:spPr>
          <a:xfrm>
            <a:off x="4682642" y="4846320"/>
            <a:ext cx="2826410" cy="868680"/>
          </a:xfrm>
          <a:prstGeom prst="rect">
            <a:avLst/>
          </a:prstGeom>
          <a:noFill/>
          <a:ln/>
        </p:spPr>
        <p:txBody>
          <a:bodyPr wrap="square" lIns="0" tIns="0" rIns="0" bIns="0" rtlCol="0" anchor="t"/>
          <a:lstStyle/>
          <a:p>
            <a:pPr marL="0" indent="0">
              <a:buNone/>
            </a:pPr>
            <a:r>
              <a:rPr lang="en-US" sz="1500" dirty="0">
                <a:solidFill>
                  <a:schemeClr val="tx2"/>
                </a:solidFill>
              </a:rPr>
              <a:t>We leven allemaal van kennis die anderen opbouwden.</a:t>
            </a:r>
            <a:endParaRPr lang="en-US" sz="1500" dirty="0"/>
          </a:p>
        </p:txBody>
      </p:sp>
      <p:sp>
        <p:nvSpPr>
          <p:cNvPr id="30" name="Dezelfde regels voor iedereen"/>
          <p:cNvSpPr/>
          <p:nvPr/>
        </p:nvSpPr>
        <p:spPr>
          <a:xfrm>
            <a:off x="8149133" y="3931920"/>
            <a:ext cx="3375050" cy="1920240"/>
          </a:xfrm>
          <a:prstGeom prst="roundRect">
            <a:avLst>
              <a:gd name="adj" fmla="val 5714"/>
            </a:avLst>
          </a:prstGeom>
          <a:solidFill>
            <a:schemeClr val="bg2"/>
          </a:solidFill>
          <a:ln/>
        </p:spPr>
        <p:txBody>
          <a:bodyPr/>
          <a:lstStyle/>
          <a:p>
            <a:endParaRPr lang="en-US"/>
          </a:p>
        </p:txBody>
      </p:sp>
      <p:sp>
        <p:nvSpPr>
          <p:cNvPr id="31" name="Nummer 6"/>
          <p:cNvSpPr/>
          <p:nvPr/>
        </p:nvSpPr>
        <p:spPr>
          <a:xfrm>
            <a:off x="8423453" y="4206240"/>
            <a:ext cx="457200" cy="457200"/>
          </a:xfrm>
          <a:prstGeom prst="ellipse">
            <a:avLst/>
          </a:prstGeom>
          <a:solidFill>
            <a:schemeClr val="accent3"/>
          </a:solidFill>
          <a:ln/>
        </p:spPr>
        <p:txBody>
          <a:bodyPr/>
          <a:lstStyle/>
          <a:p>
            <a:endParaRPr lang="en-US"/>
          </a:p>
        </p:txBody>
      </p:sp>
      <p:sp>
        <p:nvSpPr>
          <p:cNvPr id="32" name="Text 30"/>
          <p:cNvSpPr txBox="1"/>
          <p:nvPr/>
        </p:nvSpPr>
        <p:spPr>
          <a:xfrm>
            <a:off x="8423453" y="420624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3" name="Text 31"/>
          <p:cNvSpPr txBox="1"/>
          <p:nvPr/>
        </p:nvSpPr>
        <p:spPr>
          <a:xfrm>
            <a:off x="9063533" y="4206240"/>
            <a:ext cx="2232050" cy="502920"/>
          </a:xfrm>
          <a:prstGeom prst="rect">
            <a:avLst/>
          </a:prstGeom>
          <a:noFill/>
          <a:ln/>
        </p:spPr>
        <p:txBody>
          <a:bodyPr wrap="square" lIns="0" tIns="0" rIns="0" bIns="0" rtlCol="0" anchor="ctr"/>
          <a:lstStyle/>
          <a:p>
            <a:pPr marL="0" indent="0">
              <a:buNone/>
            </a:pPr>
            <a:r>
              <a:rPr lang="en-US" sz="1800" b="1" dirty="0">
                <a:solidFill>
                  <a:schemeClr val="tx1"/>
                </a:solidFill>
              </a:rPr>
              <a:t>Dezelfde regels voor iedereen</a:t>
            </a:r>
            <a:endParaRPr lang="en-US" sz="1800" dirty="0"/>
          </a:p>
        </p:txBody>
      </p:sp>
      <p:sp>
        <p:nvSpPr>
          <p:cNvPr id="34" name="Text 32"/>
          <p:cNvSpPr txBox="1"/>
          <p:nvPr/>
        </p:nvSpPr>
        <p:spPr>
          <a:xfrm>
            <a:off x="8423453" y="4846320"/>
            <a:ext cx="2826410" cy="868680"/>
          </a:xfrm>
          <a:prstGeom prst="rect">
            <a:avLst/>
          </a:prstGeom>
          <a:noFill/>
          <a:ln/>
        </p:spPr>
        <p:txBody>
          <a:bodyPr wrap="square" lIns="0" tIns="0" rIns="0" bIns="0" rtlCol="0" anchor="t"/>
          <a:lstStyle/>
          <a:p>
            <a:pPr marL="0" indent="0">
              <a:buNone/>
            </a:pPr>
            <a:r>
              <a:rPr lang="en-US" sz="1500" dirty="0">
                <a:solidFill>
                  <a:schemeClr val="tx2"/>
                </a:solidFill>
              </a:rPr>
              <a:t>Ook voor wie macht heeft. De les van Seattle.</a:t>
            </a:r>
            <a:endParaRPr lang="en-US" sz="1500" dirty="0"/>
          </a:p>
        </p:txBody>
      </p:sp>
      <p:sp>
        <p:nvSpPr>
          <p:cNvPr id="3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67512" y="1097280"/>
            <a:ext cx="6675120" cy="1737360"/>
          </a:xfrm>
          <a:prstGeom prst="rect">
            <a:avLst/>
          </a:prstGeom>
          <a:noFill/>
          <a:ln/>
        </p:spPr>
        <p:txBody>
          <a:bodyPr wrap="square" lIns="0" tIns="0" rIns="0" bIns="0" rtlCol="0" anchor="b"/>
          <a:lstStyle/>
          <a:p>
            <a:pPr marL="0" indent="0" algn="l">
              <a:buNone/>
            </a:pPr>
            <a:r>
              <a:rPr lang="en-US" sz="4000" b="1" dirty="0">
                <a:solidFill>
                  <a:schemeClr val="bg1"/>
                </a:solidFill>
              </a:rPr>
              <a:t>Samen kijken we generaties vooruit</a:t>
            </a:r>
            <a:endParaRPr lang="en-US" sz="4000" dirty="0"/>
          </a:p>
        </p:txBody>
      </p:sp>
      <p:sp>
        <p:nvSpPr>
          <p:cNvPr id="3" name="Text 0"/>
          <p:cNvSpPr>
            <a:spLocks noGrp="1"/>
          </p:cNvSpPr>
          <p:nvPr>
            <p:ph type="body" idx="101" hasCustomPrompt="1"/>
          </p:nvPr>
        </p:nvSpPr>
        <p:spPr>
          <a:xfrm>
            <a:off x="667512" y="3063240"/>
            <a:ext cx="6400800" cy="2743200"/>
          </a:xfrm>
          <a:prstGeom prst="rect">
            <a:avLst/>
          </a:prstGeom>
          <a:noFill/>
          <a:ln/>
        </p:spPr>
        <p:txBody>
          <a:bodyPr wrap="square" lIns="0" tIns="0" rIns="0" bIns="0" rtlCol="0" anchor="t"/>
          <a:lstStyle/>
          <a:p>
            <a:pPr marL="0" indent="0">
              <a:buNone/>
            </a:pPr>
            <a:r>
              <a:rPr lang="en-US" sz="2000" dirty="0">
                <a:solidFill>
                  <a:schemeClr val="bg2"/>
                </a:solidFill>
              </a:rPr>
              <a:t>Een bacterie kijkt minuten vooruit. Een hond dagen. Een mens decennia.</a:t>
            </a:r>
            <a:endParaRPr lang="en-US" sz="2000" dirty="0"/>
          </a:p>
          <a:p>
            <a:pPr marL="0" indent="0">
              <a:buNone/>
            </a:pPr>
            <a:r>
              <a:rPr lang="en-US" sz="2000" dirty="0">
                <a:solidFill>
                  <a:schemeClr val="bg2"/>
                </a:solidFill>
              </a:rPr>
              <a:t>Samen, als we eerlijk zijn over wat we zien en durven toe te geven wat we fout zagen, kijken we generaties vooruit.</a:t>
            </a:r>
            <a:endParaRPr lang="en-US" sz="2000" dirty="0"/>
          </a:p>
          <a:p>
            <a:pPr marL="0" indent="0">
              <a:buNone/>
            </a:pPr>
            <a:r>
              <a:rPr lang="en-US" sz="1000" dirty="0">
                <a:solidFill>
                  <a:schemeClr val="bg2"/>
                </a:solidFill>
              </a:rPr>
              <a:t> </a:t>
            </a:r>
            <a:endParaRPr lang="en-US" sz="2000" dirty="0"/>
          </a:p>
          <a:p>
            <a:pPr marL="0" indent="0">
              <a:buNone/>
            </a:pPr>
            <a:r>
              <a:rPr lang="en-US" sz="2000" b="1" dirty="0">
                <a:solidFill>
                  <a:schemeClr val="accent1"/>
                </a:solidFill>
              </a:rPr>
              <a:t>Dank u wel.</a:t>
            </a:r>
            <a:endParaRPr lang="en-US" sz="2000" dirty="0"/>
          </a:p>
        </p:txBody>
      </p:sp>
      <p:sp>
        <p:nvSpPr>
          <p:cNvPr id="4" name="Grote kegel"/>
          <p:cNvSpPr/>
          <p:nvPr/>
        </p:nvSpPr>
        <p:spPr>
          <a:xfrm rot="16200000">
            <a:off x="7635240" y="1463040"/>
            <a:ext cx="4206240" cy="3931920"/>
          </a:xfrm>
          <a:prstGeom prst="triangle">
            <a:avLst/>
          </a:prstGeom>
          <a:solidFill>
            <a:schemeClr val="accent2">
              <a:alpha val="18000"/>
            </a:schemeClr>
          </a:solidFill>
          <a:ln/>
        </p:spPr>
        <p:txBody>
          <a:bodyPr/>
          <a:lstStyle/>
          <a:p>
            <a:endParaRPr lang="en-US"/>
          </a:p>
        </p:txBody>
      </p:sp>
      <p:sp>
        <p:nvSpPr>
          <p:cNvPr id="5" name="Grote kegel oog"/>
          <p:cNvSpPr/>
          <p:nvPr/>
        </p:nvSpPr>
        <p:spPr>
          <a:xfrm>
            <a:off x="7708392" y="3364992"/>
            <a:ext cx="128016" cy="128016"/>
          </a:xfrm>
          <a:prstGeom prst="ellipse">
            <a:avLst/>
          </a:prstGeom>
          <a:solidFill>
            <a:schemeClr val="tx1"/>
          </a:solidFill>
          <a:ln/>
        </p:spPr>
        <p:txBody>
          <a:bodyPr/>
          <a:lstStyle/>
          <a:p>
            <a:endParaRPr lang="en-US"/>
          </a:p>
        </p:txBody>
      </p:sp>
      <p:sp>
        <p:nvSpPr>
          <p:cNvPr id="6" name="Middelste kegel"/>
          <p:cNvSpPr/>
          <p:nvPr/>
        </p:nvSpPr>
        <p:spPr>
          <a:xfrm rot="16200000">
            <a:off x="7909560" y="2103120"/>
            <a:ext cx="2377440" cy="2651760"/>
          </a:xfrm>
          <a:prstGeom prst="triangle">
            <a:avLst/>
          </a:prstGeom>
          <a:solidFill>
            <a:schemeClr val="accent1">
              <a:alpha val="40000"/>
            </a:schemeClr>
          </a:solidFill>
          <a:ln/>
        </p:spPr>
        <p:txBody>
          <a:bodyPr/>
          <a:lstStyle/>
          <a:p>
            <a:endParaRPr lang="en-US"/>
          </a:p>
        </p:txBody>
      </p:sp>
      <p:sp>
        <p:nvSpPr>
          <p:cNvPr id="7" name="Middelste kegel oog"/>
          <p:cNvSpPr/>
          <p:nvPr/>
        </p:nvSpPr>
        <p:spPr>
          <a:xfrm>
            <a:off x="7708392" y="3364992"/>
            <a:ext cx="128016" cy="128016"/>
          </a:xfrm>
          <a:prstGeom prst="ellipse">
            <a:avLst/>
          </a:prstGeom>
          <a:solidFill>
            <a:schemeClr val="tx1"/>
          </a:solidFill>
          <a:ln/>
        </p:spPr>
        <p:txBody>
          <a:bodyPr/>
          <a:lstStyle/>
          <a:p>
            <a:endParaRPr lang="en-US"/>
          </a:p>
        </p:txBody>
      </p:sp>
      <p:sp>
        <p:nvSpPr>
          <p:cNvPr id="8" name="Kleine kegel"/>
          <p:cNvSpPr/>
          <p:nvPr/>
        </p:nvSpPr>
        <p:spPr>
          <a:xfrm rot="16200000">
            <a:off x="7955280" y="2743200"/>
            <a:ext cx="1005840" cy="1371600"/>
          </a:xfrm>
          <a:prstGeom prst="triangle">
            <a:avLst/>
          </a:prstGeom>
          <a:solidFill>
            <a:schemeClr val="accent1">
              <a:alpha val="75000"/>
            </a:schemeClr>
          </a:solidFill>
          <a:ln/>
        </p:spPr>
        <p:txBody>
          <a:bodyPr/>
          <a:lstStyle/>
          <a:p>
            <a:endParaRPr lang="en-US"/>
          </a:p>
        </p:txBody>
      </p:sp>
      <p:sp>
        <p:nvSpPr>
          <p:cNvPr id="9" name="Kleine kegel oog"/>
          <p:cNvSpPr/>
          <p:nvPr/>
        </p:nvSpPr>
        <p:spPr>
          <a:xfrm>
            <a:off x="7708392" y="3364992"/>
            <a:ext cx="128016" cy="128016"/>
          </a:xfrm>
          <a:prstGeom prst="ellipse">
            <a:avLst/>
          </a:prstGeom>
          <a:solidFill>
            <a:schemeClr val="tx1"/>
          </a:solidFill>
          <a:ln/>
        </p:spPr>
        <p:txBody>
          <a:bodyPr/>
          <a:lstStyle/>
          <a:p>
            <a:endParaRPr lang="en-US"/>
          </a:p>
        </p:txBody>
      </p:sp>
      <p:sp>
        <p:nvSpPr>
          <p:cNvPr id="10" name="Oog"/>
          <p:cNvSpPr/>
          <p:nvPr/>
        </p:nvSpPr>
        <p:spPr>
          <a:xfrm>
            <a:off x="7699248" y="3355848"/>
            <a:ext cx="146304" cy="146304"/>
          </a:xfrm>
          <a:prstGeom prst="ellipse">
            <a:avLst/>
          </a:prstGeom>
          <a:solidFill>
            <a:schemeClr val="bg1"/>
          </a:solidFill>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67512" y="256032"/>
            <a:ext cx="10856671" cy="292608"/>
          </a:xfrm>
          <a:prstGeom prst="rect">
            <a:avLst/>
          </a:prstGeom>
          <a:noFill/>
          <a:ln/>
        </p:spPr>
        <p:txBody>
          <a:bodyPr wrap="square" lIns="0" tIns="0" rIns="0" bIns="0" rtlCol="0" anchor="t"/>
          <a:lstStyle/>
          <a:p>
            <a:pPr marL="0" indent="0">
              <a:buNone/>
            </a:pPr>
            <a:r>
              <a:rPr lang="en-US" sz="1100" b="1" dirty="0">
                <a:solidFill>
                  <a:schemeClr val="accent1"/>
                </a:solidFill>
              </a:rPr>
              <a:t>BRONNEN</a:t>
            </a:r>
            <a:endParaRPr lang="en-US" sz="1100" dirty="0"/>
          </a:p>
        </p:txBody>
      </p:sp>
      <p:sp>
        <p:nvSpPr>
          <p:cNvPr id="3" name="Text 0"/>
          <p:cNvSpPr>
            <a:spLocks noGrp="1"/>
          </p:cNvSpPr>
          <p:nvPr>
            <p:ph type="title" idx="101" hasCustomPrompt="1"/>
          </p:nvPr>
        </p:nvSpPr>
        <p:spPr>
          <a:xfrm>
            <a:off x="667512" y="548640"/>
            <a:ext cx="10856671" cy="566928"/>
          </a:xfrm>
          <a:prstGeom prst="rect">
            <a:avLst/>
          </a:prstGeom>
          <a:noFill/>
          <a:ln/>
        </p:spPr>
        <p:txBody>
          <a:bodyPr wrap="square" lIns="0" tIns="0" rIns="0" bIns="0" rtlCol="0" anchor="ctr"/>
          <a:lstStyle/>
          <a:p>
            <a:pPr marL="0" indent="0" algn="l">
              <a:buNone/>
            </a:pPr>
            <a:r>
              <a:rPr lang="en-US" sz="2800" b="1" dirty="0">
                <a:solidFill>
                  <a:schemeClr val="tx1"/>
                </a:solidFill>
              </a:rPr>
              <a:t>Bronnen</a:t>
            </a:r>
            <a:endParaRPr lang="en-US" sz="2800" dirty="0"/>
          </a:p>
        </p:txBody>
      </p:sp>
      <p:sp>
        <p:nvSpPr>
          <p:cNvPr id="4" name="Text 2"/>
          <p:cNvSpPr txBox="1"/>
          <p:nvPr/>
        </p:nvSpPr>
        <p:spPr>
          <a:xfrm>
            <a:off x="667512" y="1371600"/>
            <a:ext cx="5303520" cy="4937760"/>
          </a:xfrm>
          <a:prstGeom prst="rect">
            <a:avLst/>
          </a:prstGeom>
          <a:noFill/>
          <a:ln/>
        </p:spPr>
        <p:txBody>
          <a:bodyPr wrap="square" lIns="0" tIns="0" rIns="0" bIns="0" rtlCol="0" anchor="t"/>
          <a:lstStyle/>
          <a:p>
            <a:pPr marL="0" indent="0">
              <a:spcAft>
                <a:spcPts val="600"/>
              </a:spcAft>
              <a:buNone/>
            </a:pPr>
            <a:r>
              <a:rPr lang="en-US" sz="1100" dirty="0">
                <a:solidFill>
                  <a:schemeClr val="tx1"/>
                </a:solidFill>
              </a:rPr>
              <a:t>Levin, M. (2019). The Computational Boundary of a ‘Self’. Frontiers in Psychology 10:2688. doi:10.3389/fpsyg.2019.02688</a:t>
            </a:r>
            <a:endParaRPr lang="en-US" sz="1100" dirty="0"/>
          </a:p>
          <a:p>
            <a:pPr marL="0" indent="0">
              <a:spcAft>
                <a:spcPts val="600"/>
              </a:spcAft>
              <a:buNone/>
            </a:pPr>
            <a:r>
              <a:rPr lang="en-US" sz="1100" dirty="0">
                <a:solidFill>
                  <a:schemeClr val="tx1"/>
                </a:solidFill>
              </a:rPr>
              <a:t>Alexander, S. (1962). They Decide Who Lives, Who Dies. Life, 9 november 1962.</a:t>
            </a:r>
            <a:endParaRPr lang="en-US" sz="1100" dirty="0"/>
          </a:p>
          <a:p>
            <a:pPr marL="0" indent="0">
              <a:spcAft>
                <a:spcPts val="600"/>
              </a:spcAft>
              <a:buNone/>
            </a:pPr>
            <a:r>
              <a:rPr lang="en-US" sz="1100" dirty="0">
                <a:solidFill>
                  <a:schemeClr val="tx1"/>
                </a:solidFill>
              </a:rPr>
              <a:t>Klarman, H.E., Francis, J.O. &amp; Rosenthal, G.D. (1968). Cost effectiveness analysis applied to the treatment of chronic renal disease. Medical Care 6:48–54.</a:t>
            </a:r>
            <a:endParaRPr lang="en-US" sz="1100" dirty="0"/>
          </a:p>
          <a:p>
            <a:pPr marL="0" indent="0">
              <a:spcAft>
                <a:spcPts val="600"/>
              </a:spcAft>
              <a:buNone/>
            </a:pPr>
            <a:r>
              <a:rPr lang="en-US" sz="1100" dirty="0">
                <a:solidFill>
                  <a:schemeClr val="tx1"/>
                </a:solidFill>
              </a:rPr>
              <a:t>Cochrane, A.L. (1972). Effectiveness and Efficiency: Random Reflections on Health Services. Nuffield Provincial Hospitals Trust.</a:t>
            </a:r>
            <a:endParaRPr lang="en-US" sz="1100" dirty="0"/>
          </a:p>
          <a:p>
            <a:pPr marL="0" indent="0">
              <a:spcAft>
                <a:spcPts val="600"/>
              </a:spcAft>
              <a:buNone/>
            </a:pPr>
            <a:r>
              <a:rPr lang="en-US" sz="1100" dirty="0">
                <a:solidFill>
                  <a:schemeClr val="tx1"/>
                </a:solidFill>
              </a:rPr>
              <a:t>Wagenaar, W.A. &amp; Sagaria, S.D. (1975). Misperception of exponential growth. Perception &amp; Psychophysics 18:416–422.</a:t>
            </a:r>
            <a:endParaRPr lang="en-US" sz="1100" dirty="0"/>
          </a:p>
          <a:p>
            <a:pPr marL="0" indent="0">
              <a:spcAft>
                <a:spcPts val="600"/>
              </a:spcAft>
              <a:buNone/>
            </a:pPr>
            <a:r>
              <a:rPr lang="en-US" sz="1100" dirty="0">
                <a:solidFill>
                  <a:schemeClr val="tx1"/>
                </a:solidFill>
              </a:rPr>
              <a:t>CBS StatLine. Gezonde levensverwachting; vanaf 1981 (tabel 71950NED).</a:t>
            </a:r>
            <a:endParaRPr lang="en-US" sz="1100" dirty="0"/>
          </a:p>
          <a:p>
            <a:pPr marL="0" indent="0">
              <a:spcAft>
                <a:spcPts val="600"/>
              </a:spcAft>
              <a:buNone/>
            </a:pPr>
            <a:r>
              <a:rPr lang="en-US" sz="1100" dirty="0">
                <a:solidFill>
                  <a:schemeClr val="tx1"/>
                </a:solidFill>
              </a:rPr>
              <a:t>Versteegh, M. e.a. (2016). Dutch Tariff for the Five-Level Version of EQ-5D. Value in Health. doi:10.1016/j.jval.2016.01.003</a:t>
            </a:r>
            <a:endParaRPr lang="en-US" sz="1100" dirty="0"/>
          </a:p>
        </p:txBody>
      </p:sp>
      <p:sp>
        <p:nvSpPr>
          <p:cNvPr id="5" name="Text 3"/>
          <p:cNvSpPr txBox="1"/>
          <p:nvPr/>
        </p:nvSpPr>
        <p:spPr>
          <a:xfrm>
            <a:off x="6263640" y="1371600"/>
            <a:ext cx="5257800" cy="4937760"/>
          </a:xfrm>
          <a:prstGeom prst="rect">
            <a:avLst/>
          </a:prstGeom>
          <a:noFill/>
          <a:ln/>
        </p:spPr>
        <p:txBody>
          <a:bodyPr wrap="square" lIns="0" tIns="0" rIns="0" bIns="0" rtlCol="0" anchor="t"/>
          <a:lstStyle/>
          <a:p>
            <a:pPr marL="0" indent="0">
              <a:spcAft>
                <a:spcPts val="600"/>
              </a:spcAft>
              <a:buNone/>
            </a:pPr>
            <a:r>
              <a:rPr lang="en-US" sz="1100" dirty="0">
                <a:solidFill>
                  <a:schemeClr val="tx1"/>
                </a:solidFill>
              </a:rPr>
              <a:t>Oppe, M. e.a. (2016). EuroQol Protocols for Time Trade-Off Valuation of Health Outcomes.</a:t>
            </a:r>
            <a:endParaRPr lang="en-US" sz="1100" dirty="0"/>
          </a:p>
          <a:p>
            <a:pPr marL="0" indent="0">
              <a:spcAft>
                <a:spcPts val="600"/>
              </a:spcAft>
              <a:buNone/>
            </a:pPr>
            <a:r>
              <a:rPr lang="en-US" sz="1100" dirty="0">
                <a:solidFill>
                  <a:schemeClr val="tx1"/>
                </a:solidFill>
              </a:rPr>
              <a:t>Matza, L.S. e.a. (2016). The time horizon matters. Eur J Health Econ. doi:10.1007/s10198-015-0740-7</a:t>
            </a:r>
            <a:endParaRPr lang="en-US" sz="1100" dirty="0"/>
          </a:p>
          <a:p>
            <a:pPr marL="0" indent="0">
              <a:spcAft>
                <a:spcPts val="600"/>
              </a:spcAft>
              <a:buNone/>
            </a:pPr>
            <a:r>
              <a:rPr lang="en-US" sz="1100" dirty="0">
                <a:solidFill>
                  <a:schemeClr val="tx1"/>
                </a:solidFill>
              </a:rPr>
              <a:t>Zorginstituut Nederland (2015). Kosteneffectiviteit in de praktijk.</a:t>
            </a:r>
            <a:endParaRPr lang="en-US" sz="1100" dirty="0"/>
          </a:p>
          <a:p>
            <a:pPr marL="0" indent="0">
              <a:spcAft>
                <a:spcPts val="600"/>
              </a:spcAft>
              <a:buNone/>
            </a:pPr>
            <a:r>
              <a:rPr lang="en-US" sz="1100" dirty="0">
                <a:solidFill>
                  <a:schemeClr val="tx1"/>
                </a:solidFill>
              </a:rPr>
              <a:t>Dewey, J. (1916). Democracy and Education, hoofdstuk 7.</a:t>
            </a:r>
            <a:endParaRPr lang="en-US" sz="1100" dirty="0"/>
          </a:p>
          <a:p>
            <a:pPr marL="0" indent="0">
              <a:spcAft>
                <a:spcPts val="600"/>
              </a:spcAft>
              <a:buNone/>
            </a:pPr>
            <a:r>
              <a:rPr lang="en-US" sz="1100" dirty="0">
                <a:solidFill>
                  <a:schemeClr val="tx1"/>
                </a:solidFill>
              </a:rPr>
              <a:t>Vennix, J.A.M. (1996). Group Model Building. Wiley.</a:t>
            </a:r>
            <a:endParaRPr lang="en-US" sz="1100" dirty="0"/>
          </a:p>
          <a:p>
            <a:pPr marL="0" indent="0">
              <a:spcAft>
                <a:spcPts val="600"/>
              </a:spcAft>
              <a:buNone/>
            </a:pPr>
            <a:r>
              <a:rPr lang="en-US" sz="1100" dirty="0">
                <a:solidFill>
                  <a:schemeClr val="tx1"/>
                </a:solidFill>
              </a:rPr>
              <a:t>Funtowicz, S.O. &amp; Ravetz, J.R. (1993). Science for the post-normal age. Futures 25:739–755.</a:t>
            </a:r>
            <a:endParaRPr lang="en-US" sz="1100" dirty="0"/>
          </a:p>
          <a:p>
            <a:pPr marL="0" indent="0">
              <a:spcAft>
                <a:spcPts val="600"/>
              </a:spcAft>
              <a:buNone/>
            </a:pPr>
            <a:r>
              <a:rPr lang="en-US" sz="1100" dirty="0">
                <a:solidFill>
                  <a:schemeClr val="tx1"/>
                </a:solidFill>
              </a:rPr>
              <a:t>Landemore, H. (2013). Democratic Reason. Princeton University Press.</a:t>
            </a:r>
            <a:endParaRPr lang="en-US" sz="1100" dirty="0"/>
          </a:p>
          <a:p>
            <a:pPr marL="0" indent="0">
              <a:spcAft>
                <a:spcPts val="600"/>
              </a:spcAft>
              <a:buNone/>
            </a:pPr>
            <a:r>
              <a:rPr lang="en-US" sz="1100" dirty="0">
                <a:solidFill>
                  <a:schemeClr val="tx1"/>
                </a:solidFill>
              </a:rPr>
              <a:t>Van Hagen, C. e.a. (2024). PLOS One 19:e0300324; Luyten, J. e.a. (2019). Social Science &amp; Medicine 228:181–193.</a:t>
            </a:r>
            <a:endParaRPr lang="en-US" sz="1100" dirty="0"/>
          </a:p>
        </p:txBody>
      </p:sp>
      <p:sp>
        <p:nvSpPr>
          <p:cNvPr id="7" name="Text 0"/>
          <p:cNvSpPr>
            <a:spLocks noGrp="1"/>
          </p:cNvSpPr>
          <p:nvPr>
            <p:ph type="body" idx="102" hasCustomPrompt="1"/>
          </p:nvPr>
        </p:nvSpPr>
        <p:spPr>
          <a:xfrm>
            <a:off x="667512" y="1133856"/>
            <a:ext cx="10856671" cy="384048"/>
          </a:xfrm>
          <a:prstGeom prst="rect">
            <a:avLst/>
          </a:prstGeom>
          <a:noFill/>
          <a:ln/>
        </p:spPr>
        <p:txBody>
          <a:bodyPr wrap="square" lIns="0" tIns="0" rIns="0" bIns="0" rtlCol="0" anchor="t"/>
          <a:lstStyle/>
          <a:p>
            <a:pPr marL="0" indent="0">
              <a:buNone/>
            </a:pPr>
            <a:endParaRPr lang="en-US" sz="1500" dirty="0"/>
          </a:p>
        </p:txBody>
      </p:sp>
      <p:sp>
        <p:nvSpPr>
          <p:cNvPr id="25" name="Slide Number Placeholder 0"/>
          <p:cNvSpPr>
            <a:spLocks noGrp="1"/>
          </p:cNvSpPr>
          <p:nvPr>
            <p:ph type="sldNum" sz="quarter" idx="4294967295"/>
          </p:nvPr>
        </p:nvSpPr>
        <p:spPr>
          <a:xfrm>
            <a:off x="11384280" y="647395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56675"/>
                </a:solidFill>
              </a:defRPr>
            </a:lvl1pPr>
          </a:lstStyle>
          <a:p>
            <a:pPr algn="r"/>
            <a:fld id="{F7021451-1387-4CA6-816F-3879F97B5CBC}" type="slidenum">
              <a:rPr lang="en-US" b="0"/>
              <a:t>22</a:t>
            </a:fld>
            <a:endParaRPr lang="en-US"/>
          </a:p>
        </p:txBody>
      </p:sp>
    </p:spTree>
  </p:cSld>
  <p:clrMapOvr>
    <a:masterClrMapping/>
  </p:clrMapOvr>
</p:sld>
</file>

<file path=ppt/theme/theme1.xml><?xml version="1.0" encoding="utf-8"?>
<a:theme xmlns:a="http://schemas.openxmlformats.org/drawingml/2006/main" name="Kwalitijd">
  <a:themeElements>
    <a:clrScheme name="Kwalitijd">
      <a:dk1>
        <a:srgbClr val="173146"/>
      </a:dk1>
      <a:lt1>
        <a:srgbClr val="FBFCFE"/>
      </a:lt1>
      <a:dk2>
        <a:srgbClr val="556675"/>
      </a:dk2>
      <a:lt2>
        <a:srgbClr val="EAF0F5"/>
      </a:lt2>
      <a:accent1>
        <a:srgbClr val="277F9A"/>
      </a:accent1>
      <a:accent2>
        <a:srgbClr val="247C6D"/>
      </a:accent2>
      <a:accent3>
        <a:srgbClr val="B45A60"/>
      </a:accent3>
      <a:accent4>
        <a:srgbClr val="BE7230"/>
      </a:accent4>
      <a:accent5>
        <a:srgbClr val="956198"/>
      </a:accent5>
      <a:accent6>
        <a:srgbClr val="558662"/>
      </a:accent6>
      <a:hlink>
        <a:srgbClr val="277F9A"/>
      </a:hlink>
      <a:folHlink>
        <a:srgbClr val="556675"/>
      </a:folHlink>
    </a:clrScheme>
    <a:fontScheme name="Kwalitij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3905</Words>
  <Application>Microsoft Office PowerPoint</Application>
  <PresentationFormat>Widescreen</PresentationFormat>
  <Paragraphs>278</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Kwalitijd</vt:lpstr>
      <vt:lpstr>Kwalitijd</vt:lpstr>
      <vt:lpstr>Wie ben ik?</vt:lpstr>
      <vt:lpstr>Hoe ver kijk je vooruit?</vt:lpstr>
      <vt:lpstr>Samen zien we verder</vt:lpstr>
      <vt:lpstr>Wie mag er blijven leven?</vt:lpstr>
      <vt:lpstr>Maak keuzes expliciet en controleerbaar</vt:lpstr>
      <vt:lpstr>Een model voegt kegels samen</vt:lpstr>
      <vt:lpstr>De wereld is niet lineair</vt:lpstr>
      <vt:lpstr>We leven langer</vt:lpstr>
      <vt:lpstr>Niet elk jaar na je 65e is een gezond jaar</vt:lpstr>
      <vt:lpstr>Tijd maal kwaliteit</vt:lpstr>
      <vt:lpstr>PowerPoint Presentation</vt:lpstr>
      <vt:lpstr>PowerPoint Presentation</vt:lpstr>
      <vt:lpstr>PowerPoint Presentation</vt:lpstr>
      <vt:lpstr>PowerPoint Presentation</vt:lpstr>
      <vt:lpstr>PowerPoint Presentation</vt:lpstr>
      <vt:lpstr>Wat mag een QALY kosten?</vt:lpstr>
      <vt:lpstr>Gezond en wel naar de afgrond?</vt:lpstr>
      <vt:lpstr>Samen modelleren is samen leven</vt:lpstr>
      <vt:lpstr>De toegangseisen</vt:lpstr>
      <vt:lpstr>Samen kijken we generaties vooruit</vt:lpstr>
      <vt:lpstr>Bronnen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Kwalitijd</dc:title>
  <dc:subject>PptxGenJS Presentation</dc:subject>
  <dc:creator>Albert Jan van Hoek</dc:creator>
  <cp:lastModifiedBy>Albert Jan van Hoek</cp:lastModifiedBy>
  <cp:revision>4</cp:revision>
  <dcterms:created xsi:type="dcterms:W3CDTF">2026-10-08T04:51:51Z</dcterms:created>
  <dcterms:modified xsi:type="dcterms:W3CDTF">2026-10-08T05:27:12Z</dcterms:modified>
</cp:coreProperties>
</file>